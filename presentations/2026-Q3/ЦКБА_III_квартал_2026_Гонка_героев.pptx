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Черновик отчета за III квартал 2026 года (1 июля — 30 сентября).</a:t>
            </a:r>
          </a:p>
          <a:p>
            <a:r>
              <a:t>Число активных участников СМС не сообщено: прочерк нужно заменить подтвержденным значением. 50 человек из предыдущих отчетов не перенесены как факт за III квартал.</a:t>
            </a:r>
          </a:p>
          <a:p>
            <a:r>
              <a:t>Имя председателя и организация взяты из предоставленных образцов.</a:t>
            </a:r>
          </a:p>
          <a:p>
            <a:r>
              <a:t>Вместо подписанных мест вставить фотографии «Гонки героев»: общий снимок с флагом и кадр водного препятствия. Фотографии показаны в чате, но их исходные файлы недоступны в рабочей среде.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Мероприятие предоставлено пользователем для текущего черновика. Перед выпуском подтвердить, что оно состоялось в июле—сентябре 2026 года: октябрьские мероприятия исключаются.</a:t>
            </a:r>
          </a:p>
          <a:p>
            <a:r>
              <a:t>Организатор и численность участников не предоставлены, поэтому указаны прочерки. Показатели из отчета за II квартал не перенесены.</a:t>
            </a:r>
          </a:p>
          <a:p>
            <a:r>
              <a:t>Текст эффекта — предлагаемая качественная формулировка, а не результат измерения.</a:t>
            </a:r>
          </a:p>
          <a:p>
            <a:r>
              <a:t>Для правой части выбраны две из четырех фотографий пользователя: фото 3 (с флагом ЦКБА) и фото 4 (водное препятствие). После получения файлов заменить рамки фотографиями, сохранив синюю изогнутую границу.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Механизмы информирования и вовлечения сохранены из предоставленных отчетов за I и II кварталы 2026 года. При необходимости актуализировать способы информирования за III квартал.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Сохранена структура предыдущих отчетов: заключительный слайд содержит цели и задачи на следующий квартал. Поэтому здесь IV квартал 2026 года, а сам отчет относится к III кварталу.</a:t>
            </a:r>
          </a:p>
          <a:p>
            <a:r>
              <a:t>Цели и задачи — предложенный проект, а не подтвержденный утвержденный план. Содержание можно редактировать в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Место для фотографии 1"/>
          <p:cNvSpPr/>
          <p:nvPr/>
        </p:nvSpPr>
        <p:spPr>
          <a:xfrm>
            <a:off x="8255000" y="0"/>
            <a:ext cx="3937000" cy="3429000"/>
          </a:xfrm>
          <a:prstGeom prst="rect">
            <a:avLst/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Рамка места для фотографии 1"/>
          <p:cNvSpPr/>
          <p:nvPr/>
        </p:nvSpPr>
        <p:spPr>
          <a:xfrm>
            <a:off x="10236200" y="1257300"/>
            <a:ext cx="1168400" cy="711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30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388600" y="1511300"/>
            <a:ext cx="546100" cy="3683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10782300" y="1625600"/>
            <a:ext cx="457200" cy="2540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12500" y="1358900"/>
            <a:ext cx="127000" cy="127000"/>
          </a:xfrm>
          <a:prstGeom prst="ellips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Подпись места для фотографии 1"/>
          <p:cNvSpPr txBox="1"/>
          <p:nvPr/>
        </p:nvSpPr>
        <p:spPr>
          <a:xfrm>
            <a:off x="9753600" y="2133600"/>
            <a:ext cx="2324100" cy="774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ФОТО КОМАНДЫ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С ФЛАГОМ ЦКБА</a:t>
            </a:r>
          </a:p>
        </p:txBody>
      </p:sp>
      <p:sp>
        <p:nvSpPr>
          <p:cNvPr id="8" name="Место для фотографии 2"/>
          <p:cNvSpPr/>
          <p:nvPr/>
        </p:nvSpPr>
        <p:spPr>
          <a:xfrm>
            <a:off x="8255000" y="3429000"/>
            <a:ext cx="3937000" cy="3429000"/>
          </a:xfrm>
          <a:prstGeom prst="rect">
            <a:avLst/>
          </a:prstGeom>
          <a:solidFill>
            <a:srgbClr val="D3D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амка места для фотографии 2"/>
          <p:cNvSpPr/>
          <p:nvPr/>
        </p:nvSpPr>
        <p:spPr>
          <a:xfrm>
            <a:off x="10236200" y="4686300"/>
            <a:ext cx="1168400" cy="711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30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10388600" y="4940300"/>
            <a:ext cx="546100" cy="3683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>
            <a:off x="10782300" y="5054600"/>
            <a:ext cx="457200" cy="2540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12500" y="4787900"/>
            <a:ext cx="127000" cy="127000"/>
          </a:xfrm>
          <a:prstGeom prst="ellips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Подпись места для фотографии 2"/>
          <p:cNvSpPr txBox="1"/>
          <p:nvPr/>
        </p:nvSpPr>
        <p:spPr>
          <a:xfrm>
            <a:off x="9753600" y="5562600"/>
            <a:ext cx="2324100" cy="774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ПРОХОЖДЕНИЕ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ВОДНОГО ПРЕПЯТСТВИЯ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3149600" y="127000"/>
            <a:ext cx="1384300" cy="406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0000"/>
                </a:solidFill>
                <a:latin typeface="Verdana"/>
              </a:rPr>
              <a:t>— ЧЕЛ.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0100" y="12700"/>
            <a:ext cx="29845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АКТИВНЫХ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УЧАСТНИКОВ СМС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500" y="1765300"/>
            <a:ext cx="7543800" cy="431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ВЫПОЛНЕНИЕ ПЛАНА РАБОТЫ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" y="2209800"/>
            <a:ext cx="7620000" cy="1143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СОВЕТА МОЛОДЫХ</a:t>
            </a:r>
          </a:p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500" y="3390900"/>
            <a:ext cx="7239000" cy="444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III КВАРТАЛ 2026 ГОДА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" y="4343400"/>
            <a:ext cx="4064000" cy="330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1" lang="ru-RU">
                <a:solidFill>
                  <a:srgbClr val="FFFFFF"/>
                </a:solidFill>
                <a:latin typeface="Verdana"/>
              </a:rPr>
              <a:t>АО ЦКБА г. Тула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900" y="5257800"/>
            <a:ext cx="3429000" cy="317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FFFF"/>
                </a:solidFill>
                <a:latin typeface="Verdana"/>
              </a:rPr>
              <a:t>Председатель: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9900" y="5562600"/>
            <a:ext cx="5588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Аксенова Юлия Романовна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Место для фотографии 1"/>
          <p:cNvSpPr/>
          <p:nvPr/>
        </p:nvSpPr>
        <p:spPr>
          <a:xfrm>
            <a:off x="8255000" y="0"/>
            <a:ext cx="3937000" cy="3429000"/>
          </a:xfrm>
          <a:prstGeom prst="rect">
            <a:avLst/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Рамка места для фотографии 1"/>
          <p:cNvSpPr/>
          <p:nvPr/>
        </p:nvSpPr>
        <p:spPr>
          <a:xfrm>
            <a:off x="10236200" y="1257300"/>
            <a:ext cx="1168400" cy="711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30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388600" y="1511300"/>
            <a:ext cx="546100" cy="3683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sosceles Triangle 4"/>
          <p:cNvSpPr/>
          <p:nvPr/>
        </p:nvSpPr>
        <p:spPr>
          <a:xfrm>
            <a:off x="10782300" y="1625600"/>
            <a:ext cx="457200" cy="2540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12500" y="1358900"/>
            <a:ext cx="127000" cy="127000"/>
          </a:xfrm>
          <a:prstGeom prst="ellips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Подпись места для фотографии 1"/>
          <p:cNvSpPr txBox="1"/>
          <p:nvPr/>
        </p:nvSpPr>
        <p:spPr>
          <a:xfrm>
            <a:off x="9753600" y="2133600"/>
            <a:ext cx="2324100" cy="774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ФОТО КОМАНДЫ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С ФЛАГОМ ЦКБА</a:t>
            </a:r>
          </a:p>
        </p:txBody>
      </p:sp>
      <p:sp>
        <p:nvSpPr>
          <p:cNvPr id="8" name="Место для фотографии 2"/>
          <p:cNvSpPr/>
          <p:nvPr/>
        </p:nvSpPr>
        <p:spPr>
          <a:xfrm>
            <a:off x="8255000" y="3429000"/>
            <a:ext cx="3937000" cy="3429000"/>
          </a:xfrm>
          <a:prstGeom prst="rect">
            <a:avLst/>
          </a:prstGeom>
          <a:solidFill>
            <a:srgbClr val="D3DD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Рамка места для фотографии 2"/>
          <p:cNvSpPr/>
          <p:nvPr/>
        </p:nvSpPr>
        <p:spPr>
          <a:xfrm>
            <a:off x="10236200" y="4686300"/>
            <a:ext cx="1168400" cy="711200"/>
          </a:xfrm>
          <a:prstGeom prst="rect">
            <a:avLst/>
          </a:prstGeom>
          <a:solidFill>
            <a:srgbClr val="FFFFFF"/>
          </a:solidFill>
          <a:ln w="15875">
            <a:solidFill>
              <a:srgbClr val="0F30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10388600" y="4940300"/>
            <a:ext cx="546100" cy="3683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>
            <a:off x="10782300" y="5054600"/>
            <a:ext cx="457200" cy="254000"/>
          </a:xfrm>
          <a:prstGeom prst="triangl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112500" y="4787900"/>
            <a:ext cx="127000" cy="127000"/>
          </a:xfrm>
          <a:prstGeom prst="ellipse">
            <a:avLst/>
          </a:pr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Подпись места для фотографии 2"/>
          <p:cNvSpPr txBox="1"/>
          <p:nvPr/>
        </p:nvSpPr>
        <p:spPr>
          <a:xfrm>
            <a:off x="9753600" y="5562600"/>
            <a:ext cx="2324100" cy="774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ПРОХОЖДЕНИЕ</a:t>
            </a:r>
          </a:p>
          <a:p>
            <a:pPr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ru-RU">
                <a:solidFill>
                  <a:srgbClr val="0F3067"/>
                </a:solidFill>
                <a:latin typeface="Verdana"/>
              </a:rPr>
              <a:t>ВОДНОГО ПРЕПЯТСТВИЯ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780360" y="0"/>
                </a:lnTo>
                <a:cubicBezTo>
                  <a:pt x="700930" y="78800"/>
                  <a:pt x="655250" y="171180"/>
                  <a:pt x="655250" y="270000"/>
                </a:cubicBezTo>
                <a:cubicBezTo>
                  <a:pt x="655250" y="368820"/>
                  <a:pt x="700930" y="461200"/>
                  <a:pt x="78036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469900" y="1041400"/>
            <a:ext cx="7759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МЕРОПРИЯТИЯ СОВЕТА МОЛОДЫХ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СПЕЦИАЛИСТОВ, РЕАЛИЗОВАННЫЕ В III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ru-RU">
                <a:solidFill>
                  <a:srgbClr val="FFFFFF"/>
                </a:solidFill>
                <a:latin typeface="Verdana"/>
              </a:rPr>
              <a:t>КВАРТАЛЕ 2026 ГОДА</a:t>
            </a:r>
          </a:p>
        </p:txBody>
      </p:sp>
      <p:sp>
        <p:nvSpPr>
          <p:cNvPr id="17" name="Oval 16"/>
          <p:cNvSpPr/>
          <p:nvPr/>
        </p:nvSpPr>
        <p:spPr>
          <a:xfrm>
            <a:off x="558800" y="2667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6200000">
            <a:off x="917702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8900000">
            <a:off x="874701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0890" y="3025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667078" y="2982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5400000">
            <a:off x="624078" y="2879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8100000">
            <a:off x="667078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0800000">
            <a:off x="770890" y="2732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13500000">
            <a:off x="874701" y="2775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2000" y="2870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97000" y="2603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Название мероприятия: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97000" y="28829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Гонка героев</a:t>
            </a:r>
          </a:p>
        </p:txBody>
      </p:sp>
      <p:sp>
        <p:nvSpPr>
          <p:cNvPr id="29" name="Oval 28"/>
          <p:cNvSpPr/>
          <p:nvPr/>
        </p:nvSpPr>
        <p:spPr>
          <a:xfrm>
            <a:off x="558800" y="32766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6200000">
            <a:off x="917702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18900000">
            <a:off x="874701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890" y="36355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2700000">
            <a:off x="667078" y="35925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5400000">
            <a:off x="624078" y="34886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8100000">
            <a:off x="667078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10800000">
            <a:off x="770890" y="3341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13500000">
            <a:off x="874701" y="33848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62000" y="34798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97000" y="32131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Краткое описание: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97000" y="3492500"/>
            <a:ext cx="6718300" cy="3937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Командное участие сотрудников АО ЦКБА в прохождении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полосы препятствий на спортивном мероприятии «Гонка героев».</a:t>
            </a:r>
          </a:p>
        </p:txBody>
      </p:sp>
      <p:sp>
        <p:nvSpPr>
          <p:cNvPr id="41" name="Oval 40"/>
          <p:cNvSpPr/>
          <p:nvPr/>
        </p:nvSpPr>
        <p:spPr>
          <a:xfrm>
            <a:off x="558800" y="40259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16200000">
            <a:off x="917702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 rot="18900000">
            <a:off x="874701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0890" y="43848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700000">
            <a:off x="667078" y="43418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5400000">
            <a:off x="624078" y="42379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 rot="8100000">
            <a:off x="667078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10800000">
            <a:off x="770890" y="4091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13500000">
            <a:off x="874701" y="41341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62000" y="42291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97000" y="39624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Организатор мероприятия: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7000" y="42418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</a:t>
            </a:r>
          </a:p>
        </p:txBody>
      </p:sp>
      <p:sp>
        <p:nvSpPr>
          <p:cNvPr id="53" name="Oval 52"/>
          <p:cNvSpPr/>
          <p:nvPr/>
        </p:nvSpPr>
        <p:spPr>
          <a:xfrm>
            <a:off x="558800" y="45974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16200000">
            <a:off x="917702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 rot="18900000">
            <a:off x="874701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0890" y="49563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2700000">
            <a:off x="667078" y="49133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5400000">
            <a:off x="624078" y="48094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8100000">
            <a:off x="667078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10800000">
            <a:off x="770890" y="4662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13500000">
            <a:off x="874701" y="47056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62000" y="48006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97000" y="45339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Количество участников из СМС: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97000" y="48133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65" name="Oval 64"/>
          <p:cNvSpPr/>
          <p:nvPr/>
        </p:nvSpPr>
        <p:spPr>
          <a:xfrm>
            <a:off x="558800" y="52832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 rot="16200000">
            <a:off x="917702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8900000">
            <a:off x="874701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0890" y="56421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 rot="2700000">
            <a:off x="667078" y="55991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5400000">
            <a:off x="624078" y="54952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8100000">
            <a:off x="667078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10800000">
            <a:off x="770890" y="5348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3500000">
            <a:off x="874701" y="53914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62000" y="54864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397000" y="52197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Общее количество участников (охват):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397000" y="5499100"/>
            <a:ext cx="6718300" cy="203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— человек</a:t>
            </a:r>
          </a:p>
        </p:txBody>
      </p:sp>
      <p:sp>
        <p:nvSpPr>
          <p:cNvPr id="77" name="Oval 76"/>
          <p:cNvSpPr/>
          <p:nvPr/>
        </p:nvSpPr>
        <p:spPr>
          <a:xfrm>
            <a:off x="558800" y="5842000"/>
            <a:ext cx="431800" cy="431800"/>
          </a:xfrm>
          <a:prstGeom prst="ellipse">
            <a:avLst/>
          </a:prstGeom>
          <a:noFill/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917702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874701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70890" y="6200902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67078" y="6157901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24078" y="6054090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67078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770890" y="5907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874701" y="5950278"/>
            <a:ext cx="7620" cy="6476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62000" y="6045200"/>
            <a:ext cx="25400" cy="2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397000" y="5778500"/>
            <a:ext cx="67183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 lang="ru-RU">
                <a:solidFill>
                  <a:srgbClr val="FF0000"/>
                </a:solidFill>
                <a:latin typeface="Verdana"/>
              </a:rPr>
              <a:t>Эффект от мероприятия: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97000" y="6057900"/>
            <a:ext cx="67183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Развитие командного взаимодействия и взаимоподдержки,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укрепление сплоченности коллектива и популяризация</a:t>
            </a:r>
          </a:p>
          <a:p>
            <a:pPr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FFFFFF"/>
                </a:solidFill>
                <a:latin typeface="Verdana"/>
              </a:rPr>
              <a:t>физической активности.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0"/>
                </a:moveTo>
                <a:lnTo>
                  <a:pt x="480000" y="0"/>
                </a:lnTo>
                <a:cubicBezTo>
                  <a:pt x="431140" y="78800"/>
                  <a:pt x="403040" y="171180"/>
                  <a:pt x="403040" y="270000"/>
                </a:cubicBezTo>
                <a:cubicBezTo>
                  <a:pt x="403040" y="368820"/>
                  <a:pt x="431140" y="461200"/>
                  <a:pt x="480000" y="540000"/>
                </a:cubicBezTo>
                <a:lnTo>
                  <a:pt x="0" y="540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Логотип из предоставленного образца" descr="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4" name="TextBox 3"/>
          <p:cNvSpPr txBox="1"/>
          <p:nvPr/>
        </p:nvSpPr>
        <p:spPr>
          <a:xfrm>
            <a:off x="508000" y="1219200"/>
            <a:ext cx="4622800" cy="2667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МЕХАНИЗМ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ИНФОРМИРОВАНИЯ И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ВОВЛЕЧЕНИЯ МОЛОДЫХ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СПЕЦИАЛИСТОВ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В ДЕЯТЕЛЬНОСТЬ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lang="ru-RU">
                <a:solidFill>
                  <a:srgbClr val="FFFFFF"/>
                </a:solidFill>
                <a:latin typeface="Verdana"/>
              </a:rPr>
              <a:t>СОВЕТА</a:t>
            </a:r>
          </a:p>
        </p:txBody>
      </p:sp>
      <p:sp>
        <p:nvSpPr>
          <p:cNvPr id="5" name="Oval 4"/>
          <p:cNvSpPr/>
          <p:nvPr/>
        </p:nvSpPr>
        <p:spPr>
          <a:xfrm>
            <a:off x="6235700" y="20701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6200000">
            <a:off x="6381242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18900000">
            <a:off x="6363536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20790" y="22156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6278043" y="21979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5400000">
            <a:off x="6260338" y="21551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8100000">
            <a:off x="6278043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0800000">
            <a:off x="6320790" y="20947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500000">
            <a:off x="6363536" y="21124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11900" y="21463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6700" y="19431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Использование системы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чатов</a:t>
            </a:r>
          </a:p>
        </p:txBody>
      </p:sp>
      <p:sp>
        <p:nvSpPr>
          <p:cNvPr id="16" name="Oval 15"/>
          <p:cNvSpPr/>
          <p:nvPr/>
        </p:nvSpPr>
        <p:spPr>
          <a:xfrm>
            <a:off x="6235700" y="31750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6200000">
            <a:off x="6381242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8900000">
            <a:off x="6363536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0790" y="3320541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6278043" y="33028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5400000">
            <a:off x="6260338" y="32600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8100000">
            <a:off x="6278043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0800000">
            <a:off x="6320790" y="31996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3500000">
            <a:off x="6363536" y="32173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11900" y="32512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6700" y="30480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Информирование через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активистов совета молодежи</a:t>
            </a:r>
          </a:p>
        </p:txBody>
      </p:sp>
      <p:sp>
        <p:nvSpPr>
          <p:cNvPr id="27" name="Oval 26"/>
          <p:cNvSpPr/>
          <p:nvPr/>
        </p:nvSpPr>
        <p:spPr>
          <a:xfrm>
            <a:off x="6235700" y="4279900"/>
            <a:ext cx="177800" cy="1778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6200000">
            <a:off x="6381242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900000">
            <a:off x="6363536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0790" y="4425442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700000">
            <a:off x="6278043" y="4407736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5400000">
            <a:off x="6260338" y="4364990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8100000">
            <a:off x="6278043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0800000">
            <a:off x="6320790" y="4304538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3500000">
            <a:off x="6363536" y="4322243"/>
            <a:ext cx="7620" cy="26670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11900" y="435610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16700" y="4152900"/>
            <a:ext cx="5143500" cy="965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Афиши на внутреннем</a:t>
            </a:r>
          </a:p>
          <a:p>
            <a:pPr algn="l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i="0" lang="ru-RU">
                <a:solidFill>
                  <a:srgbClr val="000000"/>
                </a:solidFill>
                <a:latin typeface="Verdana"/>
              </a:rPr>
              <a:t>портале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Логотип из предоставленного образца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79400"/>
            <a:ext cx="2387600" cy="660400"/>
          </a:xfrm>
          <a:prstGeom prst="rect">
            <a:avLst/>
          </a:prstGeom>
          <a:effectLst/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176000"/>
                </a:moveTo>
                <a:lnTo>
                  <a:pt x="498000" y="176000"/>
                </a:lnTo>
                <a:cubicBezTo>
                  <a:pt x="522301" y="176000"/>
                  <a:pt x="542000" y="195699"/>
                  <a:pt x="542000" y="220000"/>
                </a:cubicBezTo>
                <a:cubicBezTo>
                  <a:pt x="542000" y="244301"/>
                  <a:pt x="522301" y="264000"/>
                  <a:pt x="498000" y="264000"/>
                </a:cubicBezTo>
                <a:lnTo>
                  <a:pt x="0" y="264000"/>
                </a:lnTo>
                <a:close/>
              </a:path>
            </a:pathLst>
          </a:custGeom>
          <a:solidFill>
            <a:srgbClr val="0F5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960000" h="540000" stroke="false">
                <a:moveTo>
                  <a:pt x="0" y="82000"/>
                </a:moveTo>
                <a:lnTo>
                  <a:pt x="739000" y="82000"/>
                </a:lnTo>
                <a:cubicBezTo>
                  <a:pt x="775451" y="82000"/>
                  <a:pt x="805000" y="111549"/>
                  <a:pt x="805000" y="148000"/>
                </a:cubicBezTo>
                <a:cubicBezTo>
                  <a:pt x="805000" y="184451"/>
                  <a:pt x="775451" y="214000"/>
                  <a:pt x="739000" y="214000"/>
                </a:cubicBezTo>
                <a:lnTo>
                  <a:pt x="0" y="214000"/>
                </a:lnTo>
                <a:close/>
              </a:path>
            </a:pathLst>
          </a:custGeom>
          <a:solidFill>
            <a:srgbClr val="0F30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2600" y="1435100"/>
            <a:ext cx="9410700" cy="1003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ЦЕЛИ И ЗАДАЧИ СОВЕТА МОЛОДЫХ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FFFFFF"/>
                </a:solidFill>
                <a:latin typeface="Verdana"/>
              </a:rPr>
              <a:t>СПЕЦИАЛИСТОВ НА IV КВАРТАЛ 2026 ГОДА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600" y="2806700"/>
            <a:ext cx="5994400" cy="5461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Предложения для плана работы совета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lang="ru-RU">
                <a:solidFill>
                  <a:srgbClr val="FFFFFF"/>
                </a:solidFill>
                <a:latin typeface="Verdana"/>
              </a:rPr>
              <a:t>на следующий квартал</a:t>
            </a:r>
          </a:p>
        </p:txBody>
      </p:sp>
      <p:pic>
        <p:nvPicPr>
          <p:cNvPr id="7" name="Значок целей из образца" descr="icon_tar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" y="3670300"/>
            <a:ext cx="825500" cy="774700"/>
          </a:xfrm>
          <a:prstGeom prst="rect">
            <a:avLst/>
          </a:prstGeom>
          <a:effectLst/>
        </p:spPr>
      </p:pic>
      <p:pic>
        <p:nvPicPr>
          <p:cNvPr id="8" name="Значок задач из образца" descr="ic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700" y="3670300"/>
            <a:ext cx="977900" cy="77470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358900" y="3886200"/>
            <a:ext cx="46609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ЦЕЛИ СОВЕТА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3886200"/>
            <a:ext cx="4521200" cy="4953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 lang="ru-RU">
                <a:solidFill>
                  <a:srgbClr val="0F3067"/>
                </a:solidFill>
                <a:latin typeface="Verdana"/>
              </a:rPr>
              <a:t>ЗАДАЧИ СОВЕТА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16200000">
            <a:off x="7693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8900000">
            <a:off x="7605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91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7177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5400000">
            <a:off x="7089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8100000">
            <a:off x="7177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10800000">
            <a:off x="7391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13500000">
            <a:off x="7605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02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60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Повышение вовлеченности молодых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специалистов в жизнь предприятия</a:t>
            </a:r>
          </a:p>
        </p:txBody>
      </p:sp>
      <p:sp>
        <p:nvSpPr>
          <p:cNvPr id="22" name="Oval 21"/>
          <p:cNvSpPr/>
          <p:nvPr/>
        </p:nvSpPr>
        <p:spPr>
          <a:xfrm>
            <a:off x="6985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6200000">
            <a:off x="7693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18900000">
            <a:off x="7605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1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7177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5400000">
            <a:off x="7089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8100000">
            <a:off x="7177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0800000">
            <a:off x="7391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13500000">
            <a:off x="7605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302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60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Развитие командного взаимодействия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корпоративной культуры</a:t>
            </a:r>
          </a:p>
        </p:txBody>
      </p:sp>
      <p:sp>
        <p:nvSpPr>
          <p:cNvPr id="33" name="Oval 32"/>
          <p:cNvSpPr/>
          <p:nvPr/>
        </p:nvSpPr>
        <p:spPr>
          <a:xfrm>
            <a:off x="6985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6200000">
            <a:off x="7693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900000">
            <a:off x="7605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91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7177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5400000">
            <a:off x="7089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8100000">
            <a:off x="7177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10800000">
            <a:off x="7391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13500000">
            <a:off x="7605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302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60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Поддержка профессионального развития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обмена опытом</a:t>
            </a:r>
          </a:p>
        </p:txBody>
      </p:sp>
      <p:sp>
        <p:nvSpPr>
          <p:cNvPr id="44" name="Oval 43"/>
          <p:cNvSpPr/>
          <p:nvPr/>
        </p:nvSpPr>
        <p:spPr>
          <a:xfrm>
            <a:off x="6985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6200000">
            <a:off x="7693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18900000">
            <a:off x="7605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91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 rot="2700000">
            <a:off x="7177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5400000">
            <a:off x="7089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8100000">
            <a:off x="7177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0800000">
            <a:off x="7391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3500000">
            <a:off x="7605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02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0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Популяризация активного образа жизни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среди молодых сотрудников</a:t>
            </a:r>
          </a:p>
        </p:txBody>
      </p:sp>
      <p:sp>
        <p:nvSpPr>
          <p:cNvPr id="55" name="Oval 54"/>
          <p:cNvSpPr/>
          <p:nvPr/>
        </p:nvSpPr>
        <p:spPr>
          <a:xfrm>
            <a:off x="6515100" y="4686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 rot="16200000">
            <a:off x="6585966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18900000">
            <a:off x="6577113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55740" y="4757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700000">
            <a:off x="6534366" y="4748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 rot="5400000">
            <a:off x="6525514" y="4726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 rot="8100000">
            <a:off x="6534366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 rot="10800000">
            <a:off x="6555740" y="4696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3500000">
            <a:off x="6577113" y="4705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46850" y="4718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32600" y="4622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1 Организация спортивных, культурных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и командных мероприятий</a:t>
            </a:r>
          </a:p>
        </p:txBody>
      </p:sp>
      <p:sp>
        <p:nvSpPr>
          <p:cNvPr id="66" name="Oval 65"/>
          <p:cNvSpPr/>
          <p:nvPr/>
        </p:nvSpPr>
        <p:spPr>
          <a:xfrm>
            <a:off x="6515100" y="5194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 rot="16200000">
            <a:off x="6585966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 rot="18900000">
            <a:off x="6577113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55740" y="5265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 rot="2700000">
            <a:off x="6534366" y="5256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 rot="5400000">
            <a:off x="6525514" y="5234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 rot="8100000">
            <a:off x="6534366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 rot="10800000">
            <a:off x="6555740" y="5204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 rot="13500000">
            <a:off x="6577113" y="5213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546850" y="5226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2600" y="5130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2 Информирование молодежи о мероприятиях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через чаты и внутренний портал</a:t>
            </a:r>
          </a:p>
        </p:txBody>
      </p:sp>
      <p:sp>
        <p:nvSpPr>
          <p:cNvPr id="77" name="Oval 76"/>
          <p:cNvSpPr/>
          <p:nvPr/>
        </p:nvSpPr>
        <p:spPr>
          <a:xfrm>
            <a:off x="6515100" y="5702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 rot="16200000">
            <a:off x="6585966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 rot="18900000">
            <a:off x="6577113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555740" y="5773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 rot="2700000">
            <a:off x="6534366" y="5764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 rot="5400000">
            <a:off x="6525514" y="5742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 rot="8100000">
            <a:off x="6534366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 rot="10800000">
            <a:off x="6555740" y="5712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 rot="13500000">
            <a:off x="6577113" y="5721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546850" y="5734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32600" y="5638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3 Вовлечение сотрудников в конференции,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конкурсы и обмен опытом</a:t>
            </a:r>
          </a:p>
        </p:txBody>
      </p:sp>
      <p:sp>
        <p:nvSpPr>
          <p:cNvPr id="88" name="Oval 87"/>
          <p:cNvSpPr/>
          <p:nvPr/>
        </p:nvSpPr>
        <p:spPr>
          <a:xfrm>
            <a:off x="6515100" y="6210300"/>
            <a:ext cx="88900" cy="88900"/>
          </a:xfrm>
          <a:prstGeom prst="ellipse">
            <a:avLst/>
          </a:prstGeom>
          <a:noFill/>
          <a:ln w="7620">
            <a:solidFill>
              <a:srgbClr val="E531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 rot="16200000">
            <a:off x="6585966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 rot="18900000">
            <a:off x="6577113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55740" y="62811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 rot="2700000">
            <a:off x="6534366" y="6272313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 rot="5400000">
            <a:off x="6525514" y="6250940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 rot="8100000">
            <a:off x="6534366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 rot="10800000">
            <a:off x="6555740" y="6220714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 rot="13500000">
            <a:off x="6577113" y="6229566"/>
            <a:ext cx="7620" cy="13335"/>
          </a:xfrm>
          <a:prstGeom prst="rect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46850" y="6242050"/>
            <a:ext cx="25400" cy="25400"/>
          </a:xfrm>
          <a:prstGeom prst="ellipse">
            <a:avLst/>
          </a:prstGeom>
          <a:solidFill>
            <a:srgbClr val="E531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832600" y="6146800"/>
            <a:ext cx="4775200" cy="4699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4 Сбор предложений молодых специалистов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ru-RU">
                <a:solidFill>
                  <a:srgbClr val="000000"/>
                </a:solidFill>
                <a:latin typeface="Verdana"/>
              </a:rPr>
              <a:t>для плана работы на следующий год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Выполнение плана работы Совета молодых специалистов АО ЦКБА. III квартал 2026 года</dc:title>
  <dc:subject>Черновик квартального отчета: Гонка героев</dc:subject>
  <dc:creator>Совет молодых специалистов АО ЦКБА</dc:creator>
  <cp:keywords>ЦКБА, СМС, III квартал 2026, Гонка героев</cp:keywords>
  <dc:description>Редактируемый черновик по структуре отчета за II квартал. Численные показатели не предоставлены. Для фотографии предусмотрены заменяемые места.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