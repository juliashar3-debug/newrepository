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Черновик отчета за III квартал 2026 года (1 июля — 30 сентября).</a:t>
            </a:r>
          </a:p>
          <a:p>
            <a:r>
              <a:t>Число активных участников СМС не сообщено: прочерк нужно заменить подтвержденным значением. 50 человек из предыдущих отчетов не перенесены как факт за III квартал.</a:t>
            </a:r>
          </a:p>
          <a:p>
            <a:r>
              <a:t>Имя председателя и организация взяты из предоставленных образцов.</a:t>
            </a:r>
          </a:p>
          <a:p>
            <a:r>
              <a:t>По последнему запросу пользователя на титульном слайде размещены два присланных снимка: команда на препятствии (cover-team.jpg) и портрет на природе (cover-portrait.jpg). Сохранены два фото в правой части и изогнутая граница, как в образцах. Исходные фотографии сохранены в репозитории.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Мероприятие предоставлено пользователем для текущего черновика. Перед выпуском подтвердить, что оно состоялось в июле—сентябре 2026 года: октябрьские мероприятия исключаются.</a:t>
            </a:r>
          </a:p>
          <a:p>
            <a:r>
              <a:t>На общем фото с флагом ЦКБА (image-14-10-26-03-39-3.jpeg) визуально насчитано 22 человека: 16 стоящих и 6 в переднем плане. На общем фото после финиша также 22 человека. В поле общего количества указано число людей на фото, а не охват всей гонки. Организатор и число участников из СМС не подтверждены, поэтому указаны прочерки. Показатели из отчета за II квартал не перенесены.</a:t>
            </a:r>
          </a:p>
          <a:p>
            <a:r>
              <a:t>Текст эффекта — предлагаемая качественная формулировка, а не результат измерения.</a:t>
            </a:r>
          </a:p>
          <a:p>
            <a:r>
              <a:t>В правой части размещены три фотографии пользователя: команда после финиша, команда с флагом ЦКБА и команда на препятствии. Сохранена синяя изогнутая граница из предоставленного образца. Эти три фотографии слайда мероприятия сохранены без изменений; на титульном слайде размещены два отдельно присланных пользователем снимка.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сообщению пользователя участвовали сотрудники ЦКБА совместно с сотрудниками «Высокоточных комплексов».</a:t>
            </a:r>
          </a:p>
          <a:p>
            <a:r>
              <a:t>На предоставленном общем фото night-tula-team.jpg насчитано 23 человека в позирующей команде; случайные зрители за пределами команды не включены, люди на разных снимках не суммировались. Это численность видимых людей на фото, а не охват всего забега.</a:t>
            </a:r>
          </a:p>
          <a:p>
            <a:r>
              <a:t>Пользователь уточнил: участников СМС считать как общее число минус 25%. 23 × 0,75 = 17,25; округлено до 17 человек. Число расчетное, членство по снимку не определялось.</a:t>
            </a:r>
          </a:p>
          <a:p>
            <a:r>
              <a:t>Дата забега в отчетном 2026 году — 18 июля 2026 года: https://night.tulamarathon.org/about/schedule ; https://events.run-rus.com/event/nt2026 . Интернет-источник подтверждает дату события в 2026 году, а не дату съемки фото.</a:t>
            </a:r>
          </a:p>
          <a:p>
            <a:r>
              <a:t>Эффект — предложенная качественная формулировка, не результат измерения. Все три предоставленных снимка размещены в правой части слайда с обычным кадрированием.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Название, место и состав участников предоставлены пользователем: сплав на байдарках в г. Рязань по реке Проня; сотрудники ЦКБА.</a:t>
            </a:r>
          </a:p>
          <a:p>
            <a:r>
              <a:t>На общем фото IMG_6413.jpeg насчитано 22 человека; люди на остальных фото не суммировались. Участники СМС: 22 − 2 = 20, по прямому указанию пользователя.</a:t>
            </a:r>
          </a:p>
          <a:p>
            <a:r>
              <a:t>Во всех трех оригинальных JPEG метаданные DateTimeOriginal указывают 8 августа 2026 года. Это дата съемки, предварительно используемая в журнале; дата мероприятия отдельно не подтверждена и на слайд как установленный факт не выведена.</a:t>
            </a:r>
          </a:p>
          <a:p>
            <a:r>
              <a:t>Организатор не сообщен, оставлен прочерк. Эффект — предлагаемая качественная формулировка. Фото сохранены в presentations/2026-Q3/kayak/ без изменения оригиналов.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Механизмы информирования и вовлечения сохранены из предоставленных отчетов за I и II кварталы 2026 года. При необходимости актуализировать способы информирования за III квартал.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Сохранена структура предыдущих отчетов: заключительный слайд содержит цели и задачи на следующий квартал. Поэтому здесь IV квартал 2026 года, а сам отчет относится к III кварталу.</a:t>
            </a:r>
          </a:p>
          <a:p>
            <a:r>
              <a:t>Цели и задачи обновлены с учетом «Гонки героев» и совместного участия коллективов ЦКБА и «Высокоточных комплексов» в «Ночной Туле», сплава по реке Проня, зимнего сезона и подготовки плана на 2027 год. Это предложенный проект, а не утвержденный план. Содержание можно редактировать в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Титульный слайд — команда на препятствии" descr="cover-team.jpg"/>
          <p:cNvPicPr>
            <a:picLocks noChangeAspect="1"/>
          </p:cNvPicPr>
          <p:nvPr/>
        </p:nvPicPr>
        <p:blipFill>
          <a:blip r:embed="rId2"/>
          <a:srcRect l="17743" r="5743"/>
          <a:stretch>
            <a:fillRect/>
          </a:stretch>
        </p:blipFill>
        <p:spPr>
          <a:xfrm>
            <a:off x="8255000" y="0"/>
            <a:ext cx="3937000" cy="3429000"/>
          </a:xfrm>
          <a:prstGeom prst="rect">
            <a:avLst/>
          </a:prstGeom>
          <a:effectLst/>
        </p:spPr>
      </p:pic>
      <p:pic>
        <p:nvPicPr>
          <p:cNvPr id="3" name="Титульный слайд — портрет на природе" descr="cover-portrait.jpg"/>
          <p:cNvPicPr>
            <a:picLocks noChangeAspect="1"/>
          </p:cNvPicPr>
          <p:nvPr/>
        </p:nvPicPr>
        <p:blipFill>
          <a:blip r:embed="rId3"/>
          <a:srcRect t="30339" b="4339"/>
          <a:stretch>
            <a:fillRect/>
          </a:stretch>
        </p:blipFill>
        <p:spPr>
          <a:xfrm>
            <a:off x="8255000" y="3429000"/>
            <a:ext cx="3937000" cy="3429000"/>
          </a:xfrm>
          <a:prstGeom prst="rect">
            <a:avLst/>
          </a:prstGeom>
          <a:effectLst/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60000" h="540000" stroke="false">
                <a:moveTo>
                  <a:pt x="0" y="0"/>
                </a:moveTo>
                <a:lnTo>
                  <a:pt x="780360" y="0"/>
                </a:lnTo>
                <a:cubicBezTo>
                  <a:pt x="700930" y="78800"/>
                  <a:pt x="655250" y="171180"/>
                  <a:pt x="655250" y="270000"/>
                </a:cubicBezTo>
                <a:cubicBezTo>
                  <a:pt x="655250" y="368820"/>
                  <a:pt x="700930" y="461200"/>
                  <a:pt x="780360" y="540000"/>
                </a:cubicBezTo>
                <a:lnTo>
                  <a:pt x="0" y="540000"/>
                </a:lnTo>
                <a:close/>
              </a:path>
            </a:pathLst>
          </a:custGeom>
          <a:solidFill>
            <a:srgbClr val="0F3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Логотип из предоставленного образца" descr="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279400"/>
            <a:ext cx="2387600" cy="6604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3149600" y="127000"/>
            <a:ext cx="1384300" cy="406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ru-RU">
                <a:solidFill>
                  <a:srgbClr val="FF0000"/>
                </a:solidFill>
                <a:latin typeface="Verdana"/>
              </a:rPr>
              <a:t>— ЧЕЛ.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0100" y="12700"/>
            <a:ext cx="2984500" cy="762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КОЛИЧЕСТВО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АКТИВНЫХ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УЧАСТНИКОВ СМС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765300"/>
            <a:ext cx="7543800" cy="431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ru-RU">
                <a:solidFill>
                  <a:srgbClr val="FFFFFF"/>
                </a:solidFill>
                <a:latin typeface="Verdana"/>
              </a:rPr>
              <a:t>ВЫПОЛНЕНИЕ ПЛАНА РАБОТЫ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500" y="2209800"/>
            <a:ext cx="7620000" cy="1143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ru-RU">
                <a:solidFill>
                  <a:srgbClr val="FFFFFF"/>
                </a:solidFill>
                <a:latin typeface="Verdana"/>
              </a:rPr>
              <a:t>СОВЕТА МОЛОДЫХ</a:t>
            </a:r>
          </a:p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ru-RU">
                <a:solidFill>
                  <a:srgbClr val="FFFFFF"/>
                </a:solidFill>
                <a:latin typeface="Verdana"/>
              </a:rPr>
              <a:t>СПЕЦИАЛИСТОВ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500" y="3390900"/>
            <a:ext cx="7239000" cy="444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ru-RU">
                <a:solidFill>
                  <a:srgbClr val="FFFFFF"/>
                </a:solidFill>
                <a:latin typeface="Verdana"/>
              </a:rPr>
              <a:t>III КВАРТАЛ 2026 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" y="4343400"/>
            <a:ext cx="4064000" cy="330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 lang="ru-RU">
                <a:solidFill>
                  <a:srgbClr val="FFFFFF"/>
                </a:solidFill>
                <a:latin typeface="Verdana"/>
              </a:rPr>
              <a:t>АО ЦКБА г. Тула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900" y="5257800"/>
            <a:ext cx="3429000" cy="317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FFFF"/>
                </a:solidFill>
                <a:latin typeface="Verdana"/>
              </a:rPr>
              <a:t>Председатель: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900" y="5562600"/>
            <a:ext cx="55880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ru-RU">
                <a:solidFill>
                  <a:srgbClr val="FFFFFF"/>
                </a:solidFill>
                <a:latin typeface="Verdana"/>
              </a:rPr>
              <a:t>Аксенова Юлия Романовна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Гонка героев — команда с медалями" descr="image-14-10-26-03-39-2.jpeg"/>
          <p:cNvPicPr>
            <a:picLocks noChangeAspect="1"/>
          </p:cNvPicPr>
          <p:nvPr/>
        </p:nvPicPr>
        <p:blipFill>
          <a:blip r:embed="rId2"/>
          <a:srcRect t="15290" b="7290"/>
          <a:stretch>
            <a:fillRect/>
          </a:stretch>
        </p:blipFill>
        <p:spPr>
          <a:xfrm>
            <a:off x="8255000" y="0"/>
            <a:ext cx="3937000" cy="2286000"/>
          </a:xfrm>
          <a:prstGeom prst="rect">
            <a:avLst/>
          </a:prstGeom>
          <a:effectLst/>
        </p:spPr>
      </p:pic>
      <p:pic>
        <p:nvPicPr>
          <p:cNvPr id="3" name="Гонка героев — команда с флагом ЦКБА" descr="image-14-10-26-03-39-3.jpeg"/>
          <p:cNvPicPr>
            <a:picLocks noChangeAspect="1"/>
          </p:cNvPicPr>
          <p:nvPr/>
        </p:nvPicPr>
        <p:blipFill>
          <a:blip r:embed="rId3"/>
          <a:srcRect t="3452" b="9452"/>
          <a:stretch>
            <a:fillRect/>
          </a:stretch>
        </p:blipFill>
        <p:spPr>
          <a:xfrm>
            <a:off x="8255000" y="2286000"/>
            <a:ext cx="3937000" cy="2286000"/>
          </a:xfrm>
          <a:prstGeom prst="rect">
            <a:avLst/>
          </a:prstGeom>
          <a:effectLst/>
        </p:spPr>
      </p:pic>
      <p:pic>
        <p:nvPicPr>
          <p:cNvPr id="4" name="Гонка героев — команда на препятствии" descr="image-14-10-26-03-39.jpeg"/>
          <p:cNvPicPr>
            <a:picLocks noChangeAspect="1"/>
          </p:cNvPicPr>
          <p:nvPr/>
        </p:nvPicPr>
        <p:blipFill>
          <a:blip r:embed="rId4"/>
          <a:srcRect t="12903"/>
          <a:stretch>
            <a:fillRect/>
          </a:stretch>
        </p:blipFill>
        <p:spPr>
          <a:xfrm>
            <a:off x="8255000" y="4572000"/>
            <a:ext cx="3937000" cy="2286000"/>
          </a:xfrm>
          <a:prstGeom prst="rect">
            <a:avLst/>
          </a:prstGeom>
          <a:effectLst/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60000" h="540000" stroke="false">
                <a:moveTo>
                  <a:pt x="0" y="0"/>
                </a:moveTo>
                <a:lnTo>
                  <a:pt x="780360" y="0"/>
                </a:lnTo>
                <a:cubicBezTo>
                  <a:pt x="700930" y="78800"/>
                  <a:pt x="655250" y="171180"/>
                  <a:pt x="655250" y="270000"/>
                </a:cubicBezTo>
                <a:cubicBezTo>
                  <a:pt x="655250" y="368820"/>
                  <a:pt x="700930" y="461200"/>
                  <a:pt x="780360" y="540000"/>
                </a:cubicBezTo>
                <a:lnTo>
                  <a:pt x="0" y="540000"/>
                </a:lnTo>
                <a:close/>
              </a:path>
            </a:pathLst>
          </a:custGeom>
          <a:solidFill>
            <a:srgbClr val="0F3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Логотип из предоставленного образца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" y="279400"/>
            <a:ext cx="2387600" cy="6604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469900" y="1041400"/>
            <a:ext cx="7759700" cy="1003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ru-RU">
                <a:solidFill>
                  <a:srgbClr val="FFFFFF"/>
                </a:solidFill>
                <a:latin typeface="Verdana"/>
              </a:rPr>
              <a:t>МЕРОПРИЯТИЯ СОВЕТА МОЛОДЫХ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ru-RU">
                <a:solidFill>
                  <a:srgbClr val="FFFFFF"/>
                </a:solidFill>
                <a:latin typeface="Verdana"/>
              </a:rPr>
              <a:t>СПЕЦИАЛИСТОВ, РЕАЛИЗОВАННЫЕ В III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ru-RU">
                <a:solidFill>
                  <a:srgbClr val="FFFFFF"/>
                </a:solidFill>
                <a:latin typeface="Verdana"/>
              </a:rPr>
              <a:t>КВАРТАЛЕ 2026 ГОДА</a:t>
            </a:r>
          </a:p>
        </p:txBody>
      </p:sp>
      <p:sp>
        <p:nvSpPr>
          <p:cNvPr id="8" name="Oval 7"/>
          <p:cNvSpPr/>
          <p:nvPr/>
        </p:nvSpPr>
        <p:spPr>
          <a:xfrm>
            <a:off x="558800" y="26670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6200000">
            <a:off x="917702" y="2879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900000">
            <a:off x="874701" y="2982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0890" y="30259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667078" y="2982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5400000">
            <a:off x="624078" y="2879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100000">
            <a:off x="667078" y="2775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0800000">
            <a:off x="770890" y="2732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3500000">
            <a:off x="874701" y="2775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2000" y="28702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7000" y="26035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Название мероприятия: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7000" y="28829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Гонка героев</a:t>
            </a:r>
          </a:p>
        </p:txBody>
      </p:sp>
      <p:sp>
        <p:nvSpPr>
          <p:cNvPr id="20" name="Oval 19"/>
          <p:cNvSpPr/>
          <p:nvPr/>
        </p:nvSpPr>
        <p:spPr>
          <a:xfrm>
            <a:off x="558800" y="32766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6200000">
            <a:off x="917702" y="34886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18900000">
            <a:off x="874701" y="35925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0890" y="36355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667078" y="35925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5400000">
            <a:off x="624078" y="34886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8100000">
            <a:off x="667078" y="33848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10800000">
            <a:off x="770890" y="33418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3500000">
            <a:off x="874701" y="33848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2000" y="34798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7000" y="32131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Краткое описание: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7000" y="3492500"/>
            <a:ext cx="6718300" cy="393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Командное участие сотрудников АО ЦКБА в прохождении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полосы препятствий на спортивном мероприятии «Гонка героев».</a:t>
            </a:r>
          </a:p>
        </p:txBody>
      </p:sp>
      <p:sp>
        <p:nvSpPr>
          <p:cNvPr id="32" name="Oval 31"/>
          <p:cNvSpPr/>
          <p:nvPr/>
        </p:nvSpPr>
        <p:spPr>
          <a:xfrm>
            <a:off x="558800" y="40259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6200000">
            <a:off x="917702" y="42379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18900000">
            <a:off x="874701" y="43418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0890" y="43848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667078" y="43418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5400000">
            <a:off x="624078" y="42379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8100000">
            <a:off x="667078" y="41341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10800000">
            <a:off x="770890" y="40911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13500000">
            <a:off x="874701" y="41341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2000" y="42291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97000" y="39624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Организатор мероприятия: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7000" y="42418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—</a:t>
            </a:r>
          </a:p>
        </p:txBody>
      </p:sp>
      <p:sp>
        <p:nvSpPr>
          <p:cNvPr id="44" name="Oval 43"/>
          <p:cNvSpPr/>
          <p:nvPr/>
        </p:nvSpPr>
        <p:spPr>
          <a:xfrm>
            <a:off x="558800" y="45974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16200000">
            <a:off x="917702" y="48094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18900000">
            <a:off x="874701" y="49133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0890" y="49563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700000">
            <a:off x="667078" y="49133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5400000">
            <a:off x="624078" y="48094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8100000">
            <a:off x="667078" y="47056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10800000">
            <a:off x="770890" y="46626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13500000">
            <a:off x="874701" y="47056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2000" y="48006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97000" y="45339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Количество участников из СМС: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97000" y="48133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— человек</a:t>
            </a:r>
          </a:p>
        </p:txBody>
      </p:sp>
      <p:sp>
        <p:nvSpPr>
          <p:cNvPr id="56" name="Oval 55"/>
          <p:cNvSpPr/>
          <p:nvPr/>
        </p:nvSpPr>
        <p:spPr>
          <a:xfrm>
            <a:off x="558800" y="52832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16200000">
            <a:off x="917702" y="54952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18900000">
            <a:off x="874701" y="55991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0890" y="56421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2700000">
            <a:off x="667078" y="55991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 rot="5400000">
            <a:off x="624078" y="54952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 rot="8100000">
            <a:off x="667078" y="53914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 rot="10800000">
            <a:off x="770890" y="53484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 rot="13500000">
            <a:off x="874701" y="53914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62000" y="54864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97000" y="52197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Общее количество участников (охват):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97000" y="54991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22 человека (по фото)</a:t>
            </a:r>
          </a:p>
        </p:txBody>
      </p:sp>
      <p:sp>
        <p:nvSpPr>
          <p:cNvPr id="68" name="Oval 67"/>
          <p:cNvSpPr/>
          <p:nvPr/>
        </p:nvSpPr>
        <p:spPr>
          <a:xfrm>
            <a:off x="558800" y="58420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 rot="16200000">
            <a:off x="917702" y="6054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 rot="18900000">
            <a:off x="874701" y="6157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0890" y="62009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 rot="2700000">
            <a:off x="667078" y="6157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 rot="5400000">
            <a:off x="624078" y="6054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 rot="8100000">
            <a:off x="667078" y="5950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 rot="10800000">
            <a:off x="770890" y="5907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 rot="13500000">
            <a:off x="874701" y="5950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62000" y="60452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97000" y="57785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Эффект от мероприятия: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97000" y="6057900"/>
            <a:ext cx="671830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Развитие командного взаимодействия и взаимоподдержки,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укрепление сплоченности коллектива и популяризация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физической активности.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Ночная Тула — совместная команда" descr="night-tula-team.jpg"/>
          <p:cNvPicPr>
            <a:picLocks noChangeAspect="1"/>
          </p:cNvPicPr>
          <p:nvPr/>
        </p:nvPicPr>
        <p:blipFill>
          <a:blip r:embed="rId2"/>
          <a:srcRect t="12290" b="10290"/>
          <a:stretch>
            <a:fillRect/>
          </a:stretch>
        </p:blipFill>
        <p:spPr>
          <a:xfrm>
            <a:off x="8255000" y="0"/>
            <a:ext cx="3937000" cy="2286000"/>
          </a:xfrm>
          <a:prstGeom prst="rect">
            <a:avLst/>
          </a:prstGeom>
          <a:effectLst/>
        </p:spPr>
      </p:pic>
      <p:pic>
        <p:nvPicPr>
          <p:cNvPr id="3" name="Ночная Тула — участники на дистанции" descr="night-tula-runners-portrait.jpg"/>
          <p:cNvPicPr>
            <a:picLocks noChangeAspect="1"/>
          </p:cNvPicPr>
          <p:nvPr/>
        </p:nvPicPr>
        <p:blipFill>
          <a:blip r:embed="rId3"/>
          <a:srcRect t="22653" b="38653"/>
          <a:stretch>
            <a:fillRect/>
          </a:stretch>
        </p:blipFill>
        <p:spPr>
          <a:xfrm>
            <a:off x="8255000" y="2286000"/>
            <a:ext cx="3937000" cy="2286000"/>
          </a:xfrm>
          <a:prstGeom prst="rect">
            <a:avLst/>
          </a:prstGeom>
          <a:effectLst/>
        </p:spPr>
      </p:pic>
      <p:pic>
        <p:nvPicPr>
          <p:cNvPr id="4" name="Ночная Тула — забег у кремля" descr="night-tula-runners-wide.jpg"/>
          <p:cNvPicPr>
            <a:picLocks noChangeAspect="1"/>
          </p:cNvPicPr>
          <p:nvPr/>
        </p:nvPicPr>
        <p:blipFill>
          <a:blip r:embed="rId4"/>
          <a:srcRect t="5435" b="7435"/>
          <a:stretch>
            <a:fillRect/>
          </a:stretch>
        </p:blipFill>
        <p:spPr>
          <a:xfrm>
            <a:off x="8255000" y="4572000"/>
            <a:ext cx="3937000" cy="2286000"/>
          </a:xfrm>
          <a:prstGeom prst="rect">
            <a:avLst/>
          </a:prstGeom>
          <a:effectLst/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60000" h="540000" stroke="false">
                <a:moveTo>
                  <a:pt x="0" y="0"/>
                </a:moveTo>
                <a:lnTo>
                  <a:pt x="780360" y="0"/>
                </a:lnTo>
                <a:cubicBezTo>
                  <a:pt x="700930" y="78800"/>
                  <a:pt x="655250" y="171180"/>
                  <a:pt x="655250" y="270000"/>
                </a:cubicBezTo>
                <a:cubicBezTo>
                  <a:pt x="655250" y="368820"/>
                  <a:pt x="700930" y="461200"/>
                  <a:pt x="780360" y="540000"/>
                </a:cubicBezTo>
                <a:lnTo>
                  <a:pt x="0" y="540000"/>
                </a:lnTo>
                <a:close/>
              </a:path>
            </a:pathLst>
          </a:custGeom>
          <a:solidFill>
            <a:srgbClr val="0F3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Логотип из предоставленного образца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" y="279400"/>
            <a:ext cx="2387600" cy="6604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469900" y="1041400"/>
            <a:ext cx="7759700" cy="1003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ru-RU">
                <a:solidFill>
                  <a:srgbClr val="FFFFFF"/>
                </a:solidFill>
                <a:latin typeface="Verdana"/>
              </a:rPr>
              <a:t>МЕРОПРИЯТИЯ СОВЕТА МОЛОДЫХ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ru-RU">
                <a:solidFill>
                  <a:srgbClr val="FFFFFF"/>
                </a:solidFill>
                <a:latin typeface="Verdana"/>
              </a:rPr>
              <a:t>СПЕЦИАЛИСТОВ, РЕАЛИЗОВАННЫЕ В III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ru-RU">
                <a:solidFill>
                  <a:srgbClr val="FFFFFF"/>
                </a:solidFill>
                <a:latin typeface="Verdana"/>
              </a:rPr>
              <a:t>КВАРТАЛЕ 2026 ГОДА</a:t>
            </a:r>
          </a:p>
        </p:txBody>
      </p:sp>
      <p:sp>
        <p:nvSpPr>
          <p:cNvPr id="8" name="Oval 7"/>
          <p:cNvSpPr/>
          <p:nvPr/>
        </p:nvSpPr>
        <p:spPr>
          <a:xfrm>
            <a:off x="558800" y="26670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6200000">
            <a:off x="917702" y="2879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900000">
            <a:off x="874701" y="2982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0890" y="30259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667078" y="2982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5400000">
            <a:off x="624078" y="2879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100000">
            <a:off x="667078" y="2775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0800000">
            <a:off x="770890" y="2732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3500000">
            <a:off x="874701" y="2775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2000" y="28702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7000" y="26035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Название мероприятия: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7000" y="28829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Забег «Ночная Тула»</a:t>
            </a:r>
          </a:p>
        </p:txBody>
      </p:sp>
      <p:sp>
        <p:nvSpPr>
          <p:cNvPr id="20" name="Oval 19"/>
          <p:cNvSpPr/>
          <p:nvPr/>
        </p:nvSpPr>
        <p:spPr>
          <a:xfrm>
            <a:off x="558800" y="32766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6200000">
            <a:off x="917702" y="34886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18900000">
            <a:off x="874701" y="35925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0890" y="36355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667078" y="35925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5400000">
            <a:off x="624078" y="34886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8100000">
            <a:off x="667078" y="33848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10800000">
            <a:off x="770890" y="33418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3500000">
            <a:off x="874701" y="33848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2000" y="34798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7000" y="32131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Краткое описание: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7000" y="3492500"/>
            <a:ext cx="6718300" cy="393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Участие сотрудников ЦКБА и «Высокоточных комплексов»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в городском забеге «Ночная Тула» </a:t>
            </a:r>
            <a:r>
              <a:rPr sz="1200" b="0" i="0" lang="ru-RU">
                <a:solidFill>
                  <a:srgbClr val="FFFFFF"/>
                </a:solidFill>
                <a:latin typeface="Verdana"/>
              </a:rPr>
              <a:t>18</a:t>
            </a:r>
            <a:r>
              <a:rPr sz="1200" b="0" i="1" lang="ru-RU">
                <a:solidFill>
                  <a:srgbClr val="FFFFFF"/>
                </a:solidFill>
                <a:latin typeface="Verdana"/>
              </a:rPr>
              <a:t> июля 2026 года.</a:t>
            </a:r>
          </a:p>
        </p:txBody>
      </p:sp>
      <p:sp>
        <p:nvSpPr>
          <p:cNvPr id="32" name="Oval 31"/>
          <p:cNvSpPr/>
          <p:nvPr/>
        </p:nvSpPr>
        <p:spPr>
          <a:xfrm>
            <a:off x="558800" y="40259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6200000">
            <a:off x="917702" y="42379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18900000">
            <a:off x="874701" y="43418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0890" y="43848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667078" y="43418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5400000">
            <a:off x="624078" y="42379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8100000">
            <a:off x="667078" y="41341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10800000">
            <a:off x="770890" y="40911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13500000">
            <a:off x="874701" y="41341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2000" y="42291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97000" y="39624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Организатор мероприятия: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7000" y="42418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Серия событий «Тульский марафон»</a:t>
            </a:r>
          </a:p>
        </p:txBody>
      </p:sp>
      <p:sp>
        <p:nvSpPr>
          <p:cNvPr id="44" name="Oval 43"/>
          <p:cNvSpPr/>
          <p:nvPr/>
        </p:nvSpPr>
        <p:spPr>
          <a:xfrm>
            <a:off x="558800" y="45974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16200000">
            <a:off x="917702" y="48094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18900000">
            <a:off x="874701" y="49133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0890" y="49563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700000">
            <a:off x="667078" y="49133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5400000">
            <a:off x="624078" y="48094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8100000">
            <a:off x="667078" y="47056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10800000">
            <a:off x="770890" y="46626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13500000">
            <a:off x="874701" y="47056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2000" y="48006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97000" y="45339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Количество участников из СМС: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97000" y="48133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17 человек (расчетно)</a:t>
            </a:r>
          </a:p>
        </p:txBody>
      </p:sp>
      <p:sp>
        <p:nvSpPr>
          <p:cNvPr id="56" name="Oval 55"/>
          <p:cNvSpPr/>
          <p:nvPr/>
        </p:nvSpPr>
        <p:spPr>
          <a:xfrm>
            <a:off x="558800" y="52832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16200000">
            <a:off x="917702" y="54952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18900000">
            <a:off x="874701" y="55991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0890" y="56421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2700000">
            <a:off x="667078" y="55991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 rot="5400000">
            <a:off x="624078" y="54952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 rot="8100000">
            <a:off x="667078" y="53914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 rot="10800000">
            <a:off x="770890" y="53484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 rot="13500000">
            <a:off x="874701" y="53914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62000" y="54864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97000" y="52197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Общее количество участников (охват):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97000" y="54991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23 человека (по фото команды)</a:t>
            </a:r>
          </a:p>
        </p:txBody>
      </p:sp>
      <p:sp>
        <p:nvSpPr>
          <p:cNvPr id="68" name="Oval 67"/>
          <p:cNvSpPr/>
          <p:nvPr/>
        </p:nvSpPr>
        <p:spPr>
          <a:xfrm>
            <a:off x="558800" y="58420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 rot="16200000">
            <a:off x="917702" y="6054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 rot="18900000">
            <a:off x="874701" y="6157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0890" y="62009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 rot="2700000">
            <a:off x="667078" y="6157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 rot="5400000">
            <a:off x="624078" y="6054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 rot="8100000">
            <a:off x="667078" y="5950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 rot="10800000">
            <a:off x="770890" y="5907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 rot="13500000">
            <a:off x="874701" y="5950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62000" y="60452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97000" y="57785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Эффект от мероприятия: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97000" y="6057900"/>
            <a:ext cx="671830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Укрепление связей между коллективами ЦКБА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и «Высокоточных комплексов», поддержка командного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взаимодействия и популяризация физической активности.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Сплав — общее фото участников" descr="IMG_6413.jpeg"/>
          <p:cNvPicPr>
            <a:picLocks noChangeAspect="1"/>
          </p:cNvPicPr>
          <p:nvPr/>
        </p:nvPicPr>
        <p:blipFill>
          <a:blip r:embed="rId2"/>
          <a:srcRect t="12290" b="10290"/>
          <a:stretch>
            <a:fillRect/>
          </a:stretch>
        </p:blipFill>
        <p:spPr>
          <a:xfrm>
            <a:off x="8255000" y="0"/>
            <a:ext cx="3937000" cy="2286000"/>
          </a:xfrm>
          <a:prstGeom prst="rect">
            <a:avLst/>
          </a:prstGeom>
          <a:effectLst/>
        </p:spPr>
      </p:pic>
      <p:pic>
        <p:nvPicPr>
          <p:cNvPr id="3" name="Сплав — участники в синей байдарке" descr="IMG_6528.jpeg"/>
          <p:cNvPicPr>
            <a:picLocks noChangeAspect="1"/>
          </p:cNvPicPr>
          <p:nvPr/>
        </p:nvPicPr>
        <p:blipFill>
          <a:blip r:embed="rId3"/>
          <a:srcRect t="31226" b="25226"/>
          <a:stretch>
            <a:fillRect/>
          </a:stretch>
        </p:blipFill>
        <p:spPr>
          <a:xfrm>
            <a:off x="8255000" y="2286000"/>
            <a:ext cx="3937000" cy="2286000"/>
          </a:xfrm>
          <a:prstGeom prst="rect">
            <a:avLst/>
          </a:prstGeom>
          <a:effectLst/>
        </p:spPr>
      </p:pic>
      <p:pic>
        <p:nvPicPr>
          <p:cNvPr id="4" name="Сплав — участники в красной байдарке" descr="IMG_6534.jpeg"/>
          <p:cNvPicPr>
            <a:picLocks noChangeAspect="1"/>
          </p:cNvPicPr>
          <p:nvPr/>
        </p:nvPicPr>
        <p:blipFill>
          <a:blip r:embed="rId4"/>
          <a:srcRect t="30226" b="26226"/>
          <a:stretch>
            <a:fillRect/>
          </a:stretch>
        </p:blipFill>
        <p:spPr>
          <a:xfrm>
            <a:off x="8255000" y="4572000"/>
            <a:ext cx="3937000" cy="2286000"/>
          </a:xfrm>
          <a:prstGeom prst="rect">
            <a:avLst/>
          </a:prstGeom>
          <a:effectLst/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60000" h="540000" stroke="false">
                <a:moveTo>
                  <a:pt x="0" y="0"/>
                </a:moveTo>
                <a:lnTo>
                  <a:pt x="780360" y="0"/>
                </a:lnTo>
                <a:cubicBezTo>
                  <a:pt x="700930" y="78800"/>
                  <a:pt x="655250" y="171180"/>
                  <a:pt x="655250" y="270000"/>
                </a:cubicBezTo>
                <a:cubicBezTo>
                  <a:pt x="655250" y="368820"/>
                  <a:pt x="700930" y="461200"/>
                  <a:pt x="780360" y="540000"/>
                </a:cubicBezTo>
                <a:lnTo>
                  <a:pt x="0" y="540000"/>
                </a:lnTo>
                <a:close/>
              </a:path>
            </a:pathLst>
          </a:custGeom>
          <a:solidFill>
            <a:srgbClr val="0F3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Логотип из предоставленного образца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" y="279400"/>
            <a:ext cx="2387600" cy="6604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469900" y="1041400"/>
            <a:ext cx="7759700" cy="1003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ru-RU">
                <a:solidFill>
                  <a:srgbClr val="FFFFFF"/>
                </a:solidFill>
                <a:latin typeface="Verdana"/>
              </a:rPr>
              <a:t>МЕРОПРИЯТИЯ СОВЕТА МОЛОДЫХ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ru-RU">
                <a:solidFill>
                  <a:srgbClr val="FFFFFF"/>
                </a:solidFill>
                <a:latin typeface="Verdana"/>
              </a:rPr>
              <a:t>СПЕЦИАЛИСТОВ, РЕАЛИЗОВАННЫЕ В III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ru-RU">
                <a:solidFill>
                  <a:srgbClr val="FFFFFF"/>
                </a:solidFill>
                <a:latin typeface="Verdana"/>
              </a:rPr>
              <a:t>КВАРТАЛЕ 2026 ГОДА</a:t>
            </a:r>
          </a:p>
        </p:txBody>
      </p:sp>
      <p:sp>
        <p:nvSpPr>
          <p:cNvPr id="8" name="Oval 7"/>
          <p:cNvSpPr/>
          <p:nvPr/>
        </p:nvSpPr>
        <p:spPr>
          <a:xfrm>
            <a:off x="558800" y="26670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6200000">
            <a:off x="917702" y="2879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900000">
            <a:off x="874701" y="2982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0890" y="30259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667078" y="2982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5400000">
            <a:off x="624078" y="2879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100000">
            <a:off x="667078" y="2775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0800000">
            <a:off x="770890" y="2732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3500000">
            <a:off x="874701" y="2775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2000" y="28702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7000" y="26035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Название мероприятия: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7000" y="28829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Сплав на байдарках</a:t>
            </a:r>
          </a:p>
        </p:txBody>
      </p:sp>
      <p:sp>
        <p:nvSpPr>
          <p:cNvPr id="20" name="Oval 19"/>
          <p:cNvSpPr/>
          <p:nvPr/>
        </p:nvSpPr>
        <p:spPr>
          <a:xfrm>
            <a:off x="558800" y="32766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6200000">
            <a:off x="917702" y="34886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18900000">
            <a:off x="874701" y="35925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0890" y="36355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667078" y="35925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5400000">
            <a:off x="624078" y="34886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8100000">
            <a:off x="667078" y="33848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10800000">
            <a:off x="770890" y="33418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3500000">
            <a:off x="874701" y="33848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2000" y="34798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7000" y="32131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Краткое описание: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7000" y="3492500"/>
            <a:ext cx="6718300" cy="393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Совместный сплав сотрудников ЦКБА на байдарках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по реке Проня в г. Рязани.</a:t>
            </a:r>
          </a:p>
        </p:txBody>
      </p:sp>
      <p:sp>
        <p:nvSpPr>
          <p:cNvPr id="32" name="Oval 31"/>
          <p:cNvSpPr/>
          <p:nvPr/>
        </p:nvSpPr>
        <p:spPr>
          <a:xfrm>
            <a:off x="558800" y="40259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6200000">
            <a:off x="917702" y="42379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18900000">
            <a:off x="874701" y="43418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0890" y="43848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667078" y="43418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5400000">
            <a:off x="624078" y="42379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8100000">
            <a:off x="667078" y="41341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10800000">
            <a:off x="770890" y="40911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13500000">
            <a:off x="874701" y="41341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2000" y="42291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97000" y="39624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Организатор мероприятия: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7000" y="42418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—</a:t>
            </a:r>
          </a:p>
        </p:txBody>
      </p:sp>
      <p:sp>
        <p:nvSpPr>
          <p:cNvPr id="44" name="Oval 43"/>
          <p:cNvSpPr/>
          <p:nvPr/>
        </p:nvSpPr>
        <p:spPr>
          <a:xfrm>
            <a:off x="558800" y="45974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16200000">
            <a:off x="917702" y="48094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18900000">
            <a:off x="874701" y="49133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0890" y="49563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700000">
            <a:off x="667078" y="49133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5400000">
            <a:off x="624078" y="48094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8100000">
            <a:off x="667078" y="47056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10800000">
            <a:off x="770890" y="46626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13500000">
            <a:off x="874701" y="47056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2000" y="48006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97000" y="45339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Количество участников из СМС: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97000" y="48133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ru-RU">
                <a:solidFill>
                  <a:srgbClr val="FFFFFF"/>
                </a:solidFill>
                <a:latin typeface="Verdana"/>
              </a:rPr>
              <a:t>20 человек (22 − 2)</a:t>
            </a:r>
          </a:p>
        </p:txBody>
      </p:sp>
      <p:sp>
        <p:nvSpPr>
          <p:cNvPr id="56" name="Oval 55"/>
          <p:cNvSpPr/>
          <p:nvPr/>
        </p:nvSpPr>
        <p:spPr>
          <a:xfrm>
            <a:off x="558800" y="52832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16200000">
            <a:off x="917702" y="54952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18900000">
            <a:off x="874701" y="55991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0890" y="56421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2700000">
            <a:off x="667078" y="55991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 rot="5400000">
            <a:off x="624078" y="54952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 rot="8100000">
            <a:off x="667078" y="53914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 rot="10800000">
            <a:off x="770890" y="53484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 rot="13500000">
            <a:off x="874701" y="53914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62000" y="54864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97000" y="52197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Общее количество участников (охват):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97000" y="5499100"/>
            <a:ext cx="67183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22 человека (по фото)</a:t>
            </a:r>
          </a:p>
        </p:txBody>
      </p:sp>
      <p:sp>
        <p:nvSpPr>
          <p:cNvPr id="68" name="Oval 67"/>
          <p:cNvSpPr/>
          <p:nvPr/>
        </p:nvSpPr>
        <p:spPr>
          <a:xfrm>
            <a:off x="558800" y="5842000"/>
            <a:ext cx="431800" cy="431800"/>
          </a:xfrm>
          <a:prstGeom prst="ellipse">
            <a:avLst/>
          </a:prstGeom>
          <a:noFill/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 rot="16200000">
            <a:off x="917702" y="6054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 rot="18900000">
            <a:off x="874701" y="6157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0890" y="6200902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 rot="2700000">
            <a:off x="667078" y="6157901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 rot="5400000">
            <a:off x="624078" y="6054090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 rot="8100000">
            <a:off x="667078" y="5950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 rot="10800000">
            <a:off x="770890" y="5907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 rot="13500000">
            <a:off x="874701" y="5950278"/>
            <a:ext cx="7620" cy="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62000" y="60452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97000" y="5778500"/>
            <a:ext cx="67183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ru-RU">
                <a:solidFill>
                  <a:srgbClr val="FF0000"/>
                </a:solidFill>
                <a:latin typeface="Verdana"/>
              </a:rPr>
              <a:t>Эффект от мероприятия: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97000" y="6057900"/>
            <a:ext cx="671830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Развитие командного взаимодействия и взаимопомощи,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укрепление связей между сотрудниками ЦКБА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FFFFFF"/>
                </a:solidFill>
                <a:latin typeface="Verdana"/>
              </a:rPr>
              <a:t>и популяризация активного отдыха на природе.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60000" h="540000" stroke="false">
                <a:moveTo>
                  <a:pt x="0" y="0"/>
                </a:moveTo>
                <a:lnTo>
                  <a:pt x="480000" y="0"/>
                </a:lnTo>
                <a:cubicBezTo>
                  <a:pt x="431140" y="78800"/>
                  <a:pt x="403040" y="171180"/>
                  <a:pt x="403040" y="270000"/>
                </a:cubicBezTo>
                <a:cubicBezTo>
                  <a:pt x="403040" y="368820"/>
                  <a:pt x="431140" y="461200"/>
                  <a:pt x="480000" y="540000"/>
                </a:cubicBezTo>
                <a:lnTo>
                  <a:pt x="0" y="540000"/>
                </a:lnTo>
                <a:close/>
              </a:path>
            </a:pathLst>
          </a:custGeom>
          <a:solidFill>
            <a:srgbClr val="0F3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Логотип из предоставленного образца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79400"/>
            <a:ext cx="2387600" cy="6604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508000" y="1219200"/>
            <a:ext cx="4622800" cy="2667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ru-RU">
                <a:solidFill>
                  <a:srgbClr val="FFFFFF"/>
                </a:solidFill>
                <a:latin typeface="Verdana"/>
              </a:rPr>
              <a:t>МЕХАНИЗМ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ru-RU">
                <a:solidFill>
                  <a:srgbClr val="FFFFFF"/>
                </a:solidFill>
                <a:latin typeface="Verdana"/>
              </a:rPr>
              <a:t>ИНФОРМИРОВАНИЯ И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ru-RU">
                <a:solidFill>
                  <a:srgbClr val="FFFFFF"/>
                </a:solidFill>
                <a:latin typeface="Verdana"/>
              </a:rPr>
              <a:t>ВОВЛЕЧЕНИЯ МОЛОДЫХ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ru-RU">
                <a:solidFill>
                  <a:srgbClr val="FFFFFF"/>
                </a:solidFill>
                <a:latin typeface="Verdana"/>
              </a:rPr>
              <a:t>СПЕЦИАЛИСТОВ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ru-RU">
                <a:solidFill>
                  <a:srgbClr val="FFFFFF"/>
                </a:solidFill>
                <a:latin typeface="Verdana"/>
              </a:rPr>
              <a:t>В ДЕЯТЕЛЬНОСТЬ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ru-RU">
                <a:solidFill>
                  <a:srgbClr val="FFFFFF"/>
                </a:solidFill>
                <a:latin typeface="Verdana"/>
              </a:rPr>
              <a:t>СОВЕТА</a:t>
            </a:r>
          </a:p>
        </p:txBody>
      </p:sp>
      <p:sp>
        <p:nvSpPr>
          <p:cNvPr id="5" name="Oval 4"/>
          <p:cNvSpPr/>
          <p:nvPr/>
        </p:nvSpPr>
        <p:spPr>
          <a:xfrm>
            <a:off x="6235700" y="2070100"/>
            <a:ext cx="177800" cy="1778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6200000">
            <a:off x="6381242" y="2155190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6363536" y="2197936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0790" y="2215641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6278043" y="2197936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5400000">
            <a:off x="6260338" y="2155190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6278043" y="2112443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0800000">
            <a:off x="6320790" y="2094738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3500000">
            <a:off x="6363536" y="2112443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11900" y="214630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6700" y="1943100"/>
            <a:ext cx="5143500" cy="965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lang="ru-RU">
                <a:solidFill>
                  <a:srgbClr val="000000"/>
                </a:solidFill>
                <a:latin typeface="Verdana"/>
              </a:rPr>
              <a:t>Использование системы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lang="ru-RU">
                <a:solidFill>
                  <a:srgbClr val="000000"/>
                </a:solidFill>
                <a:latin typeface="Verdana"/>
              </a:rPr>
              <a:t>чатов</a:t>
            </a:r>
          </a:p>
        </p:txBody>
      </p:sp>
      <p:sp>
        <p:nvSpPr>
          <p:cNvPr id="16" name="Oval 15"/>
          <p:cNvSpPr/>
          <p:nvPr/>
        </p:nvSpPr>
        <p:spPr>
          <a:xfrm>
            <a:off x="6235700" y="3175000"/>
            <a:ext cx="177800" cy="1778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6200000">
            <a:off x="6381242" y="3260090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18900000">
            <a:off x="6363536" y="3302836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0790" y="3320541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6278043" y="3302836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5400000">
            <a:off x="6260338" y="3260090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8100000">
            <a:off x="6278043" y="3217343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10800000">
            <a:off x="6320790" y="3199638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3500000">
            <a:off x="6363536" y="3217343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11900" y="325120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6700" y="3048000"/>
            <a:ext cx="5143500" cy="965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lang="ru-RU">
                <a:solidFill>
                  <a:srgbClr val="000000"/>
                </a:solidFill>
                <a:latin typeface="Verdana"/>
              </a:rPr>
              <a:t>Информирование через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lang="ru-RU">
                <a:solidFill>
                  <a:srgbClr val="000000"/>
                </a:solidFill>
                <a:latin typeface="Verdana"/>
              </a:rPr>
              <a:t>активистов совета молодежи</a:t>
            </a:r>
          </a:p>
        </p:txBody>
      </p:sp>
      <p:sp>
        <p:nvSpPr>
          <p:cNvPr id="27" name="Oval 26"/>
          <p:cNvSpPr/>
          <p:nvPr/>
        </p:nvSpPr>
        <p:spPr>
          <a:xfrm>
            <a:off x="6235700" y="4279900"/>
            <a:ext cx="177800" cy="1778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6200000">
            <a:off x="6381242" y="4364990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18900000">
            <a:off x="6363536" y="4407736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0790" y="4425442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700000">
            <a:off x="6278043" y="4407736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5400000">
            <a:off x="6260338" y="4364990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8100000">
            <a:off x="6278043" y="4322243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10800000">
            <a:off x="6320790" y="4304538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13500000">
            <a:off x="6363536" y="4322243"/>
            <a:ext cx="7620" cy="26670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11900" y="435610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6700" y="4152900"/>
            <a:ext cx="5143500" cy="965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lang="ru-RU">
                <a:solidFill>
                  <a:srgbClr val="000000"/>
                </a:solidFill>
                <a:latin typeface="Verdana"/>
              </a:rPr>
              <a:t>Афиши на внутреннем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lang="ru-RU">
                <a:solidFill>
                  <a:srgbClr val="000000"/>
                </a:solidFill>
                <a:latin typeface="Verdana"/>
              </a:rPr>
              <a:t>портале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Логотип из предоставленного образца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79400"/>
            <a:ext cx="2387600" cy="6604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60000" h="540000" stroke="false">
                <a:moveTo>
                  <a:pt x="0" y="176000"/>
                </a:moveTo>
                <a:lnTo>
                  <a:pt x="498000" y="176000"/>
                </a:lnTo>
                <a:cubicBezTo>
                  <a:pt x="522301" y="176000"/>
                  <a:pt x="542000" y="195699"/>
                  <a:pt x="542000" y="220000"/>
                </a:cubicBezTo>
                <a:cubicBezTo>
                  <a:pt x="542000" y="244301"/>
                  <a:pt x="522301" y="264000"/>
                  <a:pt x="498000" y="264000"/>
                </a:cubicBezTo>
                <a:lnTo>
                  <a:pt x="0" y="264000"/>
                </a:lnTo>
                <a:close/>
              </a:path>
            </a:pathLst>
          </a:custGeom>
          <a:solidFill>
            <a:srgbClr val="0F5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60000" h="540000" stroke="false">
                <a:moveTo>
                  <a:pt x="0" y="82000"/>
                </a:moveTo>
                <a:lnTo>
                  <a:pt x="739000" y="82000"/>
                </a:lnTo>
                <a:cubicBezTo>
                  <a:pt x="775451" y="82000"/>
                  <a:pt x="805000" y="111549"/>
                  <a:pt x="805000" y="148000"/>
                </a:cubicBezTo>
                <a:cubicBezTo>
                  <a:pt x="805000" y="184451"/>
                  <a:pt x="775451" y="214000"/>
                  <a:pt x="739000" y="214000"/>
                </a:cubicBezTo>
                <a:lnTo>
                  <a:pt x="0" y="214000"/>
                </a:lnTo>
                <a:close/>
              </a:path>
            </a:pathLst>
          </a:custGeom>
          <a:solidFill>
            <a:srgbClr val="0F3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1435100"/>
            <a:ext cx="9410700" cy="1003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ru-RU">
                <a:solidFill>
                  <a:srgbClr val="FFFFFF"/>
                </a:solidFill>
                <a:latin typeface="Verdana"/>
              </a:rPr>
              <a:t>ЦЕЛИ И ЗАДАЧИ СОВЕТА МОЛОДЫХ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ru-RU">
                <a:solidFill>
                  <a:srgbClr val="FFFFFF"/>
                </a:solidFill>
                <a:latin typeface="Verdana"/>
              </a:rPr>
              <a:t>СПЕЦИАЛИСТОВ НА IV КВАРТАЛ 2026 ГОДА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2806700"/>
            <a:ext cx="5994400" cy="5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ru-RU">
                <a:solidFill>
                  <a:srgbClr val="FFFFFF"/>
                </a:solidFill>
                <a:latin typeface="Verdana"/>
              </a:rPr>
              <a:t>Предложения для плана работы совета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ru-RU">
                <a:solidFill>
                  <a:srgbClr val="FFFFFF"/>
                </a:solidFill>
                <a:latin typeface="Verdana"/>
              </a:rPr>
              <a:t>на следующий квартал</a:t>
            </a:r>
          </a:p>
        </p:txBody>
      </p:sp>
      <p:pic>
        <p:nvPicPr>
          <p:cNvPr id="7" name="Значок целей из образца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3670300"/>
            <a:ext cx="825500" cy="774700"/>
          </a:xfrm>
          <a:prstGeom prst="rect">
            <a:avLst/>
          </a:prstGeom>
          <a:effectLst/>
        </p:spPr>
      </p:pic>
      <p:pic>
        <p:nvPicPr>
          <p:cNvPr id="8" name="Значок задач из образца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3670300"/>
            <a:ext cx="977900" cy="774700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1358900" y="3886200"/>
            <a:ext cx="46609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ru-RU">
                <a:solidFill>
                  <a:srgbClr val="0F3067"/>
                </a:solidFill>
                <a:latin typeface="Verdana"/>
              </a:rPr>
              <a:t>ЦЕЛИ СОВЕТА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5700" y="3886200"/>
            <a:ext cx="45212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ru-RU">
                <a:solidFill>
                  <a:srgbClr val="0F3067"/>
                </a:solidFill>
                <a:latin typeface="Verdana"/>
              </a:rPr>
              <a:t>ЗАДАЧИ СОВЕТА</a:t>
            </a:r>
          </a:p>
        </p:txBody>
      </p:sp>
      <p:sp>
        <p:nvSpPr>
          <p:cNvPr id="11" name="Oval 10"/>
          <p:cNvSpPr/>
          <p:nvPr/>
        </p:nvSpPr>
        <p:spPr>
          <a:xfrm>
            <a:off x="698500" y="4686300"/>
            <a:ext cx="88900" cy="889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769366" y="4726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900000">
            <a:off x="760513" y="4748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9140" y="47571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717766" y="4748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5400000">
            <a:off x="708914" y="4726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8100000">
            <a:off x="717766" y="4705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10800000">
            <a:off x="739140" y="4696714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13500000">
            <a:off x="760513" y="4705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" y="471805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000" y="4622800"/>
            <a:ext cx="4775200" cy="469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1 Укрепление взаимодействия внутри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ЦКБА и с коллегами из холдинга</a:t>
            </a:r>
          </a:p>
        </p:txBody>
      </p:sp>
      <p:sp>
        <p:nvSpPr>
          <p:cNvPr id="22" name="Oval 21"/>
          <p:cNvSpPr/>
          <p:nvPr/>
        </p:nvSpPr>
        <p:spPr>
          <a:xfrm>
            <a:off x="698500" y="5194300"/>
            <a:ext cx="88900" cy="889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16200000">
            <a:off x="769366" y="5234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8900000">
            <a:off x="760513" y="5256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9140" y="52651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717766" y="5256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5400000">
            <a:off x="708914" y="5234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8100000">
            <a:off x="717766" y="5213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10800000">
            <a:off x="739140" y="5204714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13500000">
            <a:off x="760513" y="5213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" y="522605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000" y="5130800"/>
            <a:ext cx="4775200" cy="469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2 Вовлечение новичков в доступные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совместные мероприятия</a:t>
            </a:r>
          </a:p>
        </p:txBody>
      </p:sp>
      <p:sp>
        <p:nvSpPr>
          <p:cNvPr id="33" name="Oval 32"/>
          <p:cNvSpPr/>
          <p:nvPr/>
        </p:nvSpPr>
        <p:spPr>
          <a:xfrm>
            <a:off x="698500" y="5702300"/>
            <a:ext cx="88900" cy="889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16200000">
            <a:off x="769366" y="5742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18900000">
            <a:off x="760513" y="5764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9140" y="57731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717766" y="5764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5400000">
            <a:off x="708914" y="5742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8100000">
            <a:off x="717766" y="5721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10800000">
            <a:off x="739140" y="5712714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 rot="13500000">
            <a:off x="760513" y="5721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0250" y="573405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6000" y="5638800"/>
            <a:ext cx="4775200" cy="469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3 Обмен практическим опытом между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молодыми специалистами</a:t>
            </a:r>
          </a:p>
        </p:txBody>
      </p:sp>
      <p:sp>
        <p:nvSpPr>
          <p:cNvPr id="44" name="Oval 43"/>
          <p:cNvSpPr/>
          <p:nvPr/>
        </p:nvSpPr>
        <p:spPr>
          <a:xfrm>
            <a:off x="698500" y="6210300"/>
            <a:ext cx="88900" cy="889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16200000">
            <a:off x="769366" y="6250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18900000">
            <a:off x="760513" y="6272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9140" y="62811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700000">
            <a:off x="717766" y="6272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5400000">
            <a:off x="708914" y="6250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8100000">
            <a:off x="717766" y="6229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10800000">
            <a:off x="739140" y="6220714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13500000">
            <a:off x="760513" y="6229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30250" y="624205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6000" y="6146800"/>
            <a:ext cx="4775200" cy="469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4 Учет интересов молодежи при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подготовке плана на 2027 год</a:t>
            </a:r>
          </a:p>
        </p:txBody>
      </p:sp>
      <p:sp>
        <p:nvSpPr>
          <p:cNvPr id="55" name="Oval 54"/>
          <p:cNvSpPr/>
          <p:nvPr/>
        </p:nvSpPr>
        <p:spPr>
          <a:xfrm>
            <a:off x="6515100" y="4686300"/>
            <a:ext cx="88900" cy="889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 rot="16200000">
            <a:off x="6585966" y="4726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18900000">
            <a:off x="6577113" y="4748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55740" y="47571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 rot="2700000">
            <a:off x="6534366" y="4748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5400000">
            <a:off x="6525514" y="4726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 rot="8100000">
            <a:off x="6534366" y="4705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 rot="10800000">
            <a:off x="6555740" y="4696714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 rot="13500000">
            <a:off x="6577113" y="4705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546850" y="471805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32600" y="4622800"/>
            <a:ext cx="4775200" cy="469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1 Провести встречу участников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гонки, забега и сплава: обмен опытом</a:t>
            </a:r>
          </a:p>
        </p:txBody>
      </p:sp>
      <p:sp>
        <p:nvSpPr>
          <p:cNvPr id="66" name="Oval 65"/>
          <p:cNvSpPr/>
          <p:nvPr/>
        </p:nvSpPr>
        <p:spPr>
          <a:xfrm>
            <a:off x="6515100" y="5194300"/>
            <a:ext cx="88900" cy="889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 rot="16200000">
            <a:off x="6585966" y="5234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 rot="18900000">
            <a:off x="6577113" y="5256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5740" y="52651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 rot="2700000">
            <a:off x="6534366" y="5256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 rot="5400000">
            <a:off x="6525514" y="5234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 rot="8100000">
            <a:off x="6534366" y="5213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 rot="10800000">
            <a:off x="6555740" y="5204714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 rot="13500000">
            <a:off x="6577113" y="5213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546850" y="522605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32600" y="5130800"/>
            <a:ext cx="4775200" cy="469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2 Подготовить совместный зимний квиз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и пригласить новых участников</a:t>
            </a:r>
          </a:p>
        </p:txBody>
      </p:sp>
      <p:sp>
        <p:nvSpPr>
          <p:cNvPr id="77" name="Oval 76"/>
          <p:cNvSpPr/>
          <p:nvPr/>
        </p:nvSpPr>
        <p:spPr>
          <a:xfrm>
            <a:off x="6515100" y="5702300"/>
            <a:ext cx="88900" cy="889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 rot="16200000">
            <a:off x="6585966" y="5742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 rot="18900000">
            <a:off x="6577113" y="5764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55740" y="57731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 rot="2700000">
            <a:off x="6534366" y="5764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 rot="5400000">
            <a:off x="6525514" y="5742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 rot="8100000">
            <a:off x="6534366" y="5721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 rot="10800000">
            <a:off x="6555740" y="5712714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 rot="13500000">
            <a:off x="6577113" y="5721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546850" y="573405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32600" y="5638800"/>
            <a:ext cx="4775200" cy="469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3 Организовать встречу «Обмен опытом»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с короткими выступлениями коллег</a:t>
            </a:r>
          </a:p>
        </p:txBody>
      </p:sp>
      <p:sp>
        <p:nvSpPr>
          <p:cNvPr id="88" name="Oval 87"/>
          <p:cNvSpPr/>
          <p:nvPr/>
        </p:nvSpPr>
        <p:spPr>
          <a:xfrm>
            <a:off x="6515100" y="6210300"/>
            <a:ext cx="88900" cy="88900"/>
          </a:xfrm>
          <a:prstGeom prst="ellipse">
            <a:avLst/>
          </a:prstGeom>
          <a:noFill/>
          <a:ln w="7620">
            <a:solidFill>
              <a:srgbClr val="E53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 rot="16200000">
            <a:off x="6585966" y="6250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 rot="18900000">
            <a:off x="6577113" y="6272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555740" y="62811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 rot="2700000">
            <a:off x="6534366" y="6272313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 rot="5400000">
            <a:off x="6525514" y="6250940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 rot="8100000">
            <a:off x="6534366" y="6229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 rot="10800000">
            <a:off x="6555740" y="6220714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 rot="13500000">
            <a:off x="6577113" y="6229566"/>
            <a:ext cx="7620" cy="13335"/>
          </a:xfrm>
          <a:prstGeom prst="rect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546850" y="6242050"/>
            <a:ext cx="25400" cy="25400"/>
          </a:xfrm>
          <a:prstGeom prst="ellipse">
            <a:avLst/>
          </a:prstGeom>
          <a:solidFill>
            <a:srgbClr val="E53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32600" y="6146800"/>
            <a:ext cx="4775200" cy="469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4 Собрать идеи через опрос и составить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ru-RU">
                <a:solidFill>
                  <a:srgbClr val="000000"/>
                </a:solidFill>
                <a:latin typeface="Verdana"/>
              </a:rPr>
              <a:t>проект плана мероприятий на 2027 год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Выполнение плана работы Совета молодых специалистов АО ЦКБА. III квартал 2026 года</dc:title>
  <dc:subject>Черновик квартального отчета: Гонка героев; Ночная Тула; Сплав на байдарках</dc:subject>
  <dc:creator>Совет молодых специалистов АО ЦКБА</dc:creator>
  <cp:keywords>ЦКБА, СМС, III квартал 2026, Гонка героев, Ночная Тула</cp:keywords>
  <dc:description>Отчет по структуре II квартала: Гонка героев и Ночная Тула. На титуле два выбранных фото. Ночная Тула: 23 человека по фото; СМС — 17 расчетно, 75% с округлением. Дата забега 18.07.2026 по сайту организаторов.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