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Черновик отчета за III квартал 2026 года (1 июля — 30 сентября).</a:t>
            </a:r>
          </a:p>
          <a:p>
            <a:r>
              <a:t>Число активных участников СМС не сообщено: прочерк нужно заменить подтвержденным значением. 50 человек из предыдущих отчетов не перенесены как факт за III квартал.</a:t>
            </a:r>
          </a:p>
          <a:p>
            <a:r>
              <a:t>Имя председателя и организация взяты из предоставленных образцов.</a:t>
            </a:r>
          </a:p>
          <a:p>
            <a:r>
              <a:t>По последнему запросу пользователя на титульном слайде размещены два присланных снимка: команда на препятствии (cover-team.jpg) и портрет на природе (cover-portrait.jpg). Сохранены два фото в правой части и изогнутая граница, как в образцах. Исходные фотографии сохранены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Мероприятие предоставлено пользователем для текущего черновика. Перед выпуском подтвердить, что оно состоялось в июле—сентябре 2026 года: октябрьские мероприятия исключаются.</a:t>
            </a:r>
          </a:p>
          <a:p>
            <a:r>
              <a:t>На общем фото с флагом ЦКБА (image-14-10-26-03-39-3.jpeg) визуально насчитано 22 человека: 16 стоящих и 6 в переднем плане. На общем фото после финиша также 22 человека. В поле общего количества указано число людей на фото, а не охват всей гонки. Организатор и число участников из СМС не подтверждены, поэтому указаны прочерки. Показатели из отчета за II квартал не перенесены.</a:t>
            </a:r>
          </a:p>
          <a:p>
            <a:r>
              <a:t>Текст эффекта — предлагаемая качественная формулировка, а не результат измерения.</a:t>
            </a:r>
          </a:p>
          <a:p>
            <a:r>
              <a:t>В правой части размещены три фотографии пользователя: команда после финиша, команда с флагом ЦКБА и команда на препятствии. Сохранена синяя изогнутая граница из предоставленного образца. Эти три фотографии слайда мероприятия сохранены без изменений; на титульном слайде размещены два отдельно присланных пользователем снимка.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сообщению пользователя участвовали сотрудники ЦКБА совместно с сотрудниками «Высокоточных комплексов».</a:t>
            </a:r>
          </a:p>
          <a:p>
            <a:r>
              <a:t>На предоставленном общем фото night-tula-team.jpg насчитано 23 человека в позирующей команде; случайные зрители за пределами команды не включены, люди на разных снимках не суммировались. Это численность видимых людей на фото, а не охват всего забега.</a:t>
            </a:r>
          </a:p>
          <a:p>
            <a:r>
              <a:t>Пользователь уточнил: участников СМС считать как общее число минус 25%. 23 × 0,75 = 17,25; округлено до 17 человек. Число расчетное, членство по снимку не определялось.</a:t>
            </a:r>
          </a:p>
          <a:p>
            <a:r>
              <a:t>Дата забега в отчетном 2026 году — 18 июля 2026 года: https://night.tulamarathon.org/about/schedule ; https://events.run-rus.com/event/nt2026 . Интернет-источник подтверждает дату события в 2026 году, а не дату съемки фото.</a:t>
            </a:r>
          </a:p>
          <a:p>
            <a:r>
              <a:t>Эффект — предложенная качественная формулировка, не результат измерения. Все три предоставленных снимка размещены в правой части слайда с обычным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Название, место и состав участников предоставлены пользователем: сплав на байдарках в г. Рязань по реке Проня; сотрудники ЦКБА.</a:t>
            </a:r>
          </a:p>
          <a:p>
            <a:r>
              <a:t>На общем фото IMG_6413.jpeg насчитано 22 человека; люди на остальных фото не суммировались. Участники СМС: 22 − 2 = 20, по прямому указанию пользователя.</a:t>
            </a:r>
          </a:p>
          <a:p>
            <a:r>
              <a:t>Пользователь подтвердил дату мероприятия: 8–9 августа 2026 года. Во всех трех оригинальных JPEG дата съемки 8 августа 2026 года, что соответствует первому дню сплава.</a:t>
            </a:r>
          </a:p>
          <a:p>
            <a:r>
              <a:t>Организатор не сообщен, оставлен прочерк. Эффект — предлагаемая качественная формулировка. Фото сохранены в presentations/2026-Q3/kayak/ без изменения оригиналов.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Механизмы информирования и вовлечения сохранены из предоставленных отчетов за I и II кварталы 2026 года. При необходимости актуализировать способы информирования за III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Сохранена структура предыдущих отчетов: заключительный слайд содержит цели и задачи на следующий квартал. Поэтому здесь IV квартал 2026 года, а сам отчет относится к III кварталу.</a:t>
            </a:r>
          </a:p>
          <a:p>
            <a:r>
              <a:t>Цели и задачи обновлены с учетом «Гонки героев» и совместного участия коллективов ЦКБА и «Высокоточных комплексов» в «Ночной Туле», сплава по реке Проня, зимнего сезона и подготовки плана на 2027 год. Это предложенный проект, а не утвержденный план. Содержание можно редактировать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Титульный слайд — команда на препятствии" descr="cover-team.jpg"/>
          <p:cNvPicPr>
            <a:picLocks noChangeAspect="1"/>
          </p:cNvPicPr>
          <p:nvPr/>
        </p:nvPicPr>
        <p:blipFill>
          <a:blip r:embed="rId2"/>
          <a:srcRect l="17743" r="5743"/>
          <a:stretch>
            <a:fillRect/>
          </a:stretch>
        </p:blipFill>
        <p:spPr>
          <a:xfrm>
            <a:off x="8255000" y="0"/>
            <a:ext cx="3937000" cy="3429000"/>
          </a:xfrm>
          <a:prstGeom prst="rect">
            <a:avLst/>
          </a:prstGeom>
          <a:effectLst/>
        </p:spPr>
      </p:pic>
      <p:pic>
        <p:nvPicPr>
          <p:cNvPr id="3" name="Титульный слайд — портрет на природе" descr="cover-portrait.jpg"/>
          <p:cNvPicPr>
            <a:picLocks noChangeAspect="1"/>
          </p:cNvPicPr>
          <p:nvPr/>
        </p:nvPicPr>
        <p:blipFill>
          <a:blip r:embed="rId3"/>
          <a:srcRect t="30339" b="4339"/>
          <a:stretch>
            <a:fillRect/>
          </a:stretch>
        </p:blipFill>
        <p:spPr>
          <a:xfrm>
            <a:off x="8255000" y="3429000"/>
            <a:ext cx="3937000" cy="3429000"/>
          </a:xfrm>
          <a:prstGeom prst="rect">
            <a:avLst/>
          </a:prstGeom>
          <a:effectLst/>
        </p:spPr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3149600" y="127000"/>
            <a:ext cx="1384300" cy="406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0000"/>
                </a:solidFill>
                <a:latin typeface="Verdana"/>
              </a:rPr>
              <a:t>— ЧЕЛ.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0100" y="12700"/>
            <a:ext cx="29845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АКТИВНЫХ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УЧАСТНИКОВ СМС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" y="1765300"/>
            <a:ext cx="7543800" cy="431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ВЫПОЛНЕНИЕ ПЛАНА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2209800"/>
            <a:ext cx="7620000" cy="1143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СОВЕТА МОЛОДЫХ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00" y="3390900"/>
            <a:ext cx="7239000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III КВАРТАЛ 2026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4343400"/>
            <a:ext cx="4064000" cy="330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 lang="ru-RU">
                <a:solidFill>
                  <a:srgbClr val="FFFFFF"/>
                </a:solidFill>
                <a:latin typeface="Verdana"/>
              </a:rPr>
              <a:t>АО ЦКБА г. Тула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" y="5257800"/>
            <a:ext cx="3429000" cy="317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FFFF"/>
                </a:solidFill>
                <a:latin typeface="Verdana"/>
              </a:rPr>
              <a:t>Председатель: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00" y="5562600"/>
            <a:ext cx="5588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Аксенова Юлия Романовна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онка героев — команда с медалями" descr="image-14-10-26-03-39-2.jpeg"/>
          <p:cNvPicPr>
            <a:picLocks noChangeAspect="1"/>
          </p:cNvPicPr>
          <p:nvPr/>
        </p:nvPicPr>
        <p:blipFill>
          <a:blip r:embed="rId2"/>
          <a:srcRect t="15290" b="7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Гонка героев — команда с флагом ЦКБА" descr="image-14-10-26-03-39-3.jpeg"/>
          <p:cNvPicPr>
            <a:picLocks noChangeAspect="1"/>
          </p:cNvPicPr>
          <p:nvPr/>
        </p:nvPicPr>
        <p:blipFill>
          <a:blip r:embed="rId3"/>
          <a:srcRect t="3452" b="9452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Гонка героев — команда на препятствии" descr="image-14-10-26-03-39.jpeg"/>
          <p:cNvPicPr>
            <a:picLocks noChangeAspect="1"/>
          </p:cNvPicPr>
          <p:nvPr/>
        </p:nvPicPr>
        <p:blipFill>
          <a:blip r:embed="rId4"/>
          <a:srcRect t="12903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Гонка героев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Командное участие сотрудников АО ЦКБА в прохождении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полосы препятствий на спортивном мероприятии «Гонка героев».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22 человека (по фото)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взаимоподдержки,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сплоченности коллектива и популяризация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физической активности.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Ночная Тула — совместная команда" descr="night-tula-team.jpg"/>
          <p:cNvPicPr>
            <a:picLocks noChangeAspect="1"/>
          </p:cNvPicPr>
          <p:nvPr/>
        </p:nvPicPr>
        <p:blipFill>
          <a:blip r:embed="rId2"/>
          <a:srcRect t="12290" b="10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Ночная Тула — участники на дистанции" descr="night-tula-runners-portrait.jpg"/>
          <p:cNvPicPr>
            <a:picLocks noChangeAspect="1"/>
          </p:cNvPicPr>
          <p:nvPr/>
        </p:nvPicPr>
        <p:blipFill>
          <a:blip r:embed="rId3"/>
          <a:srcRect t="22653" b="38653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Ночная Тула — забег у кремля" descr="night-tula-runners-wide.jpg"/>
          <p:cNvPicPr>
            <a:picLocks noChangeAspect="1"/>
          </p:cNvPicPr>
          <p:nvPr/>
        </p:nvPicPr>
        <p:blipFill>
          <a:blip r:embed="rId4"/>
          <a:srcRect t="5435" b="7435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Забег «Ночная Тула»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Участие сотрудников ЦКБА и «Высокоточных комплексов»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в городском забеге «Ночная Тула» </a:t>
            </a:r>
            <a:r>
              <a:rPr sz="1200" b="0" i="0" lang="ru-RU">
                <a:solidFill>
                  <a:srgbClr val="FFFFFF"/>
                </a:solidFill>
                <a:latin typeface="Verdana"/>
              </a:rPr>
              <a:t>18</a:t>
            </a:r>
            <a:r>
              <a:rPr sz="1200" b="0" i="1" lang="ru-RU">
                <a:solidFill>
                  <a:srgbClr val="FFFFFF"/>
                </a:solidFill>
                <a:latin typeface="Verdana"/>
              </a:rPr>
              <a:t> июля 2026 года.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Серия событий «Тульский марафон»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17 человек (расчетно)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23 человека (по фото команды)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связей между коллективами ЦКБА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и «Высокоточных комплексов», поддержка командного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взаимодействия и популяризация физической активности.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Сплав — общее фото участников" descr="IMG_6413.jpeg"/>
          <p:cNvPicPr>
            <a:picLocks noChangeAspect="1"/>
          </p:cNvPicPr>
          <p:nvPr/>
        </p:nvPicPr>
        <p:blipFill>
          <a:blip r:embed="rId2"/>
          <a:srcRect t="12290" b="10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Сплав — участники в синей байдарке" descr="IMG_6528.jpeg"/>
          <p:cNvPicPr>
            <a:picLocks noChangeAspect="1"/>
          </p:cNvPicPr>
          <p:nvPr/>
        </p:nvPicPr>
        <p:blipFill>
          <a:blip r:embed="rId3"/>
          <a:srcRect t="31226" b="25226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Сплав — участники в красной байдарке" descr="IMG_6534.jpeg"/>
          <p:cNvPicPr>
            <a:picLocks noChangeAspect="1"/>
          </p:cNvPicPr>
          <p:nvPr/>
        </p:nvPicPr>
        <p:blipFill>
          <a:blip r:embed="rId4"/>
          <a:srcRect t="30226" b="26226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Сплав на байдарках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Сплав сотрудников ЦКБА по реке Проня в г. Рязани.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/>
            </a:r>
            <a:r>
              <a:rPr sz="1200" b="0" i="1" lang="ru-RU">
                <a:solidFill>
                  <a:srgbClr val="FFFFFF"/>
                </a:solidFill>
                <a:latin typeface="Liberation Sans"/>
              </a:rPr>
              <a:t>8–9</a:t>
            </a:r>
            <a:r>
              <a:rPr sz="1200" b="0" i="1" lang="ru-RU">
                <a:solidFill>
                  <a:srgbClr val="FFFFFF"/>
                </a:solidFill>
                <a:latin typeface="Verdana"/>
              </a:rPr>
              <a:t> августа 2026 года.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20 человек (22 − 2)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22 человека (по фото)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взаимопомощи,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связей между сотрудниками ЦКБА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и популяризация активного отдыха на природе.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480000" y="0"/>
                </a:lnTo>
                <a:cubicBezTo>
                  <a:pt x="431140" y="78800"/>
                  <a:pt x="403040" y="171180"/>
                  <a:pt x="403040" y="270000"/>
                </a:cubicBezTo>
                <a:cubicBezTo>
                  <a:pt x="403040" y="368820"/>
                  <a:pt x="431140" y="461200"/>
                  <a:pt x="48000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8000" y="1219200"/>
            <a:ext cx="4622800" cy="2667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МЕХАНИЗМ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ИНФОРМИРОВАНИЯ И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ВОВЛЕЧЕНИЯ МОЛОДЫХ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 ДЕЯТЕЛЬНОСТЬ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СОВЕТА</a:t>
            </a:r>
          </a:p>
        </p:txBody>
      </p:sp>
      <p:sp>
        <p:nvSpPr>
          <p:cNvPr id="5" name="Oval 4"/>
          <p:cNvSpPr/>
          <p:nvPr/>
        </p:nvSpPr>
        <p:spPr>
          <a:xfrm>
            <a:off x="6235700" y="20701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6200000">
            <a:off x="6381242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363536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0790" y="22156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6278043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6260338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8100000">
            <a:off x="6278043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0800000">
            <a:off x="6320790" y="20947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500000">
            <a:off x="6363536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11900" y="21463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6700" y="19431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Использование системы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чатов</a:t>
            </a:r>
          </a:p>
        </p:txBody>
      </p:sp>
      <p:sp>
        <p:nvSpPr>
          <p:cNvPr id="16" name="Oval 15"/>
          <p:cNvSpPr/>
          <p:nvPr/>
        </p:nvSpPr>
        <p:spPr>
          <a:xfrm>
            <a:off x="6235700" y="31750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6200000">
            <a:off x="6381242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8900000">
            <a:off x="6363536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0790" y="33205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278043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5400000">
            <a:off x="6260338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8100000">
            <a:off x="6278043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0800000">
            <a:off x="6320790" y="31996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3500000">
            <a:off x="6363536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11900" y="32512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30480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Информирование через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активистов совета молодежи</a:t>
            </a:r>
          </a:p>
        </p:txBody>
      </p:sp>
      <p:sp>
        <p:nvSpPr>
          <p:cNvPr id="27" name="Oval 26"/>
          <p:cNvSpPr/>
          <p:nvPr/>
        </p:nvSpPr>
        <p:spPr>
          <a:xfrm>
            <a:off x="6235700" y="42799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6200000">
            <a:off x="6381242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900000">
            <a:off x="6363536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0790" y="4425442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6278043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5400000">
            <a:off x="6260338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100000">
            <a:off x="6278043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0800000">
            <a:off x="6320790" y="43045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3500000">
            <a:off x="6363536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11900" y="43561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700" y="41529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Афиши на внутреннем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портале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 из предоставленного образца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176000"/>
                </a:moveTo>
                <a:lnTo>
                  <a:pt x="498000" y="176000"/>
                </a:lnTo>
                <a:cubicBezTo>
                  <a:pt x="522301" y="176000"/>
                  <a:pt x="542000" y="195699"/>
                  <a:pt x="542000" y="220000"/>
                </a:cubicBezTo>
                <a:cubicBezTo>
                  <a:pt x="542000" y="244301"/>
                  <a:pt x="522301" y="264000"/>
                  <a:pt x="498000" y="264000"/>
                </a:cubicBezTo>
                <a:lnTo>
                  <a:pt x="0" y="264000"/>
                </a:lnTo>
                <a:close/>
              </a:path>
            </a:pathLst>
          </a:custGeom>
          <a:solidFill>
            <a:srgbClr val="0F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82000"/>
                </a:moveTo>
                <a:lnTo>
                  <a:pt x="739000" y="82000"/>
                </a:lnTo>
                <a:cubicBezTo>
                  <a:pt x="775451" y="82000"/>
                  <a:pt x="805000" y="111549"/>
                  <a:pt x="805000" y="148000"/>
                </a:cubicBezTo>
                <a:cubicBezTo>
                  <a:pt x="805000" y="184451"/>
                  <a:pt x="775451" y="214000"/>
                  <a:pt x="739000" y="214000"/>
                </a:cubicBezTo>
                <a:lnTo>
                  <a:pt x="0" y="214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1435100"/>
            <a:ext cx="9410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ЦЕЛИ И ЗАДАЧИ СОВЕТА МОЛОДЫХ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СПЕЦИАЛИСТОВ НА IV КВАРТАЛ 2026 ГОДА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2806700"/>
            <a:ext cx="5994400" cy="5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Предложения для плана работы совета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на следующий квартал</a:t>
            </a:r>
          </a:p>
        </p:txBody>
      </p:sp>
      <p:pic>
        <p:nvPicPr>
          <p:cNvPr id="7" name="Значок целей из образца" descr="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70300"/>
            <a:ext cx="825500" cy="774700"/>
          </a:xfrm>
          <a:prstGeom prst="rect">
            <a:avLst/>
          </a:prstGeom>
          <a:effectLst/>
        </p:spPr>
      </p:pic>
      <p:pic>
        <p:nvPicPr>
          <p:cNvPr id="8" name="Значок задач из образца" descr="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70300"/>
            <a:ext cx="977900" cy="77470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58900" y="3886200"/>
            <a:ext cx="46609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ЦЕЛИ СОВЕТА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3886200"/>
            <a:ext cx="45212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ЗАДАЧИ СОВЕТА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6200000">
            <a:off x="7693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8900000">
            <a:off x="7605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91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7177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5400000">
            <a:off x="7089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8100000">
            <a:off x="7177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0800000">
            <a:off x="7391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3500000">
            <a:off x="7605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0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Укрепление взаимодействия внутри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ЦКБА и с коллегами из холдинга</a:t>
            </a:r>
          </a:p>
        </p:txBody>
      </p:sp>
      <p:sp>
        <p:nvSpPr>
          <p:cNvPr id="22" name="Oval 21"/>
          <p:cNvSpPr/>
          <p:nvPr/>
        </p:nvSpPr>
        <p:spPr>
          <a:xfrm>
            <a:off x="6985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6200000">
            <a:off x="7693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8900000">
            <a:off x="7605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1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177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5400000">
            <a:off x="7089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8100000">
            <a:off x="7177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0800000">
            <a:off x="7391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3500000">
            <a:off x="7605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02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Вовлечение новичков в доступные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совместные мероприятия</a:t>
            </a:r>
          </a:p>
        </p:txBody>
      </p:sp>
      <p:sp>
        <p:nvSpPr>
          <p:cNvPr id="33" name="Oval 32"/>
          <p:cNvSpPr/>
          <p:nvPr/>
        </p:nvSpPr>
        <p:spPr>
          <a:xfrm>
            <a:off x="6985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6200000">
            <a:off x="7693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900000">
            <a:off x="7605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91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7177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5400000">
            <a:off x="7089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8100000">
            <a:off x="7177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0800000">
            <a:off x="7391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13500000">
            <a:off x="7605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02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60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Обмен практическим опытом между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молодыми специалистами</a:t>
            </a:r>
          </a:p>
        </p:txBody>
      </p:sp>
      <p:sp>
        <p:nvSpPr>
          <p:cNvPr id="44" name="Oval 43"/>
          <p:cNvSpPr/>
          <p:nvPr/>
        </p:nvSpPr>
        <p:spPr>
          <a:xfrm>
            <a:off x="6985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7693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7605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91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7177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7089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7177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391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7605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02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0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Учет интересов молодежи при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подготовке плана на 2027 год</a:t>
            </a:r>
          </a:p>
        </p:txBody>
      </p:sp>
      <p:sp>
        <p:nvSpPr>
          <p:cNvPr id="55" name="Oval 54"/>
          <p:cNvSpPr/>
          <p:nvPr/>
        </p:nvSpPr>
        <p:spPr>
          <a:xfrm>
            <a:off x="65151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16200000">
            <a:off x="65859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8900000">
            <a:off x="65771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557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65343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5400000">
            <a:off x="65255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8100000">
            <a:off x="65343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10800000">
            <a:off x="65557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3500000">
            <a:off x="65771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468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26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Провести встречу участников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гонки, забега и сплава: обмен опытом</a:t>
            </a:r>
          </a:p>
        </p:txBody>
      </p:sp>
      <p:sp>
        <p:nvSpPr>
          <p:cNvPr id="66" name="Oval 65"/>
          <p:cNvSpPr/>
          <p:nvPr/>
        </p:nvSpPr>
        <p:spPr>
          <a:xfrm>
            <a:off x="65151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6200000">
            <a:off x="65859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 rot="18900000">
            <a:off x="65771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57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2700000">
            <a:off x="65343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5400000">
            <a:off x="65255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8100000">
            <a:off x="65343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0800000">
            <a:off x="65557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13500000">
            <a:off x="65771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68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26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Подготовить совместный зимний квиз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пригласить новых участников</a:t>
            </a:r>
          </a:p>
        </p:txBody>
      </p:sp>
      <p:sp>
        <p:nvSpPr>
          <p:cNvPr id="77" name="Oval 76"/>
          <p:cNvSpPr/>
          <p:nvPr/>
        </p:nvSpPr>
        <p:spPr>
          <a:xfrm>
            <a:off x="65151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65859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65771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557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5343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5255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5343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65557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65771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468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26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Организовать встречу «Обмен опытом»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 короткими выступлениями коллег</a:t>
            </a:r>
          </a:p>
        </p:txBody>
      </p:sp>
      <p:sp>
        <p:nvSpPr>
          <p:cNvPr id="88" name="Oval 87"/>
          <p:cNvSpPr/>
          <p:nvPr/>
        </p:nvSpPr>
        <p:spPr>
          <a:xfrm>
            <a:off x="65151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 rot="16200000">
            <a:off x="65859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 rot="18900000">
            <a:off x="65771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557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2700000">
            <a:off x="65343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 rot="5400000">
            <a:off x="65255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 rot="8100000">
            <a:off x="65343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 rot="10800000">
            <a:off x="65557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 rot="13500000">
            <a:off x="65771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468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326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Собрать идеи через опрос и составить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проект плана мероприятий на 2027 год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Выполнение плана работы Совета молодых специалистов АО ЦКБА. III квартал 2026 года</dc:title>
  <dc:subject>Черновик квартального отчета: Гонка героев; Ночная Тула; Сплав на байдарках</dc:subject>
  <dc:creator>Совет молодых специалистов АО ЦКБА</dc:creator>
  <cp:keywords>ЦКБА, СМС, III квартал 2026, Гонка героев, Ночная Тула</cp:keywords>
  <dc:description>Отчет по структуре II квартала: Гонка героев и Ночная Тула. На титуле два выбранных фото. Ночная Тула: 23 человека по фото; СМС — 17 расчетно, 75% с округлением. Дата забега 18.07.2026 по сайту организаторов.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